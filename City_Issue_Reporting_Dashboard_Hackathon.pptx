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B1CB9F5-8953-433A-8C5D-7C7B6945B896}" v="1" dt="2026-10-10T05:22:06.9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rshith Rama" userId="e277a1ceb8a92a94" providerId="LiveId" clId="{70F36058-CABD-41FD-A1A1-9538630DBEA6}"/>
    <pc:docChg chg="custSel modSld">
      <pc:chgData name="Varshith Rama" userId="e277a1ceb8a92a94" providerId="LiveId" clId="{70F36058-CABD-41FD-A1A1-9538630DBEA6}" dt="2026-10-10T05:23:21.010" v="106" actId="20577"/>
      <pc:docMkLst>
        <pc:docMk/>
      </pc:docMkLst>
      <pc:sldChg chg="addSp delSp modSp mod">
        <pc:chgData name="Varshith Rama" userId="e277a1ceb8a92a94" providerId="LiveId" clId="{70F36058-CABD-41FD-A1A1-9538630DBEA6}" dt="2026-10-10T05:23:21.010" v="106" actId="20577"/>
        <pc:sldMkLst>
          <pc:docMk/>
          <pc:sldMk cId="0" sldId="256"/>
        </pc:sldMkLst>
        <pc:spChg chg="del">
          <ac:chgData name="Varshith Rama" userId="e277a1ceb8a92a94" providerId="LiveId" clId="{70F36058-CABD-41FD-A1A1-9538630DBEA6}" dt="2026-10-10T05:21:53.154" v="0" actId="478"/>
          <ac:spMkLst>
            <pc:docMk/>
            <pc:sldMk cId="0" sldId="256"/>
            <ac:spMk id="12" creationId="{00000000-0000-0000-0000-000000000000}"/>
          </ac:spMkLst>
        </pc:spChg>
        <pc:spChg chg="del">
          <ac:chgData name="Varshith Rama" userId="e277a1ceb8a92a94" providerId="LiveId" clId="{70F36058-CABD-41FD-A1A1-9538630DBEA6}" dt="2026-10-10T05:21:57.173" v="1" actId="478"/>
          <ac:spMkLst>
            <pc:docMk/>
            <pc:sldMk cId="0" sldId="256"/>
            <ac:spMk id="13" creationId="{00000000-0000-0000-0000-000000000000}"/>
          </ac:spMkLst>
        </pc:spChg>
        <pc:spChg chg="add mod">
          <ac:chgData name="Varshith Rama" userId="e277a1ceb8a92a94" providerId="LiveId" clId="{70F36058-CABD-41FD-A1A1-9538630DBEA6}" dt="2026-10-10T05:23:21.010" v="106" actId="20577"/>
          <ac:spMkLst>
            <pc:docMk/>
            <pc:sldMk cId="0" sldId="256"/>
            <ac:spMk id="79" creationId="{4797D8CD-0D14-79EA-7F8E-F8133C20DD1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7DAE8"/>
          </a:solidFill>
          <a:ln>
            <a:solidFill>
              <a:srgbClr val="27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58368" y="502920"/>
            <a:ext cx="1627632" cy="256032"/>
          </a:xfrm>
          <a:prstGeom prst="roundRect">
            <a:avLst>
              <a:gd name="adj" fmla="val 12000"/>
            </a:avLst>
          </a:prstGeom>
          <a:solidFill>
            <a:srgbClr val="162945"/>
          </a:solidFill>
          <a:ln>
            <a:solidFill>
              <a:srgbClr val="16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94944" y="512064"/>
            <a:ext cx="1554480" cy="2194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800" b="1" i="0">
                <a:solidFill>
                  <a:srgbClr val="27DAE8"/>
                </a:solidFill>
                <a:latin typeface="Aptos"/>
              </a:rPr>
              <a:t>HACKATHON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51560"/>
            <a:ext cx="5760720" cy="1371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3100" b="1" i="0">
                <a:solidFill>
                  <a:srgbClr val="F2F7FF"/>
                </a:solidFill>
                <a:latin typeface="Aptos"/>
              </a:rPr>
              <a:t>City Issue
Reporting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51760"/>
            <a:ext cx="512064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800" b="1" i="0">
                <a:solidFill>
                  <a:srgbClr val="27DAE8"/>
                </a:solidFill>
                <a:latin typeface="Aptos"/>
              </a:rPr>
              <a:t>Report. Track. Resolve.
Build Better Cities.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749039"/>
            <a:ext cx="4937760" cy="3200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9DB1CA"/>
                </a:solidFill>
                <a:latin typeface="Aptos"/>
              </a:rPr>
              <a:t>SMART CITIES  /  CIVIC TECHNOLOGY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4224528"/>
            <a:ext cx="1188720" cy="256032"/>
          </a:xfrm>
          <a:prstGeom prst="roundRect">
            <a:avLst>
              <a:gd name="adj" fmla="val 12000"/>
            </a:avLst>
          </a:prstGeom>
          <a:solidFill>
            <a:srgbClr val="162945"/>
          </a:solidFill>
          <a:ln>
            <a:solidFill>
              <a:srgbClr val="16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22376" y="4233672"/>
            <a:ext cx="1115568" cy="2194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800" b="1" i="0">
                <a:solidFill>
                  <a:srgbClr val="53DC9D"/>
                </a:solidFill>
                <a:latin typeface="Aptos"/>
              </a:rPr>
              <a:t>MERN STACK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93392" y="4224528"/>
            <a:ext cx="1207008" cy="256032"/>
          </a:xfrm>
          <a:prstGeom prst="roundRect">
            <a:avLst>
              <a:gd name="adj" fmla="val 12000"/>
            </a:avLst>
          </a:prstGeom>
          <a:solidFill>
            <a:srgbClr val="162945"/>
          </a:solidFill>
          <a:ln>
            <a:solidFill>
              <a:srgbClr val="16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029968" y="4233672"/>
            <a:ext cx="1133856" cy="2194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800" b="1" i="0">
                <a:solidFill>
                  <a:srgbClr val="27DAE8"/>
                </a:solidFill>
                <a:latin typeface="Aptos"/>
              </a:rPr>
              <a:t>FULL-STACK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658368"/>
            <a:ext cx="5349240" cy="5349240"/>
          </a:xfrm>
          <a:prstGeom prst="roundRect">
            <a:avLst>
              <a:gd name="adj" fmla="val 12000"/>
            </a:avLst>
          </a:prstGeom>
          <a:solidFill>
            <a:srgbClr val="0D192C"/>
          </a:solidFill>
          <a:ln>
            <a:solidFill>
              <a:srgbClr val="2E46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172200" y="658368"/>
            <a:ext cx="5349240" cy="320040"/>
          </a:xfrm>
          <a:prstGeom prst="roundRect">
            <a:avLst>
              <a:gd name="adj" fmla="val 12000"/>
            </a:avLst>
          </a:prstGeom>
          <a:solidFill>
            <a:srgbClr val="182A41"/>
          </a:solidFill>
          <a:ln>
            <a:solidFill>
              <a:srgbClr val="18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318504" y="768096"/>
            <a:ext cx="64008" cy="64008"/>
          </a:xfrm>
          <a:prstGeom prst="ellipse">
            <a:avLst/>
          </a:prstGeom>
          <a:solidFill>
            <a:srgbClr val="FF6C7A"/>
          </a:solidFill>
          <a:ln>
            <a:solidFill>
              <a:srgbClr val="FF6C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464808" y="768096"/>
            <a:ext cx="64008" cy="64008"/>
          </a:xfrm>
          <a:prstGeom prst="ellipse">
            <a:avLst/>
          </a:prstGeom>
          <a:solidFill>
            <a:srgbClr val="FFB85C"/>
          </a:solidFill>
          <a:ln>
            <a:solidFill>
              <a:srgbClr val="FFB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611112" y="768096"/>
            <a:ext cx="64008" cy="64008"/>
          </a:xfrm>
          <a:prstGeom prst="ellipse">
            <a:avLst/>
          </a:prstGeom>
          <a:solidFill>
            <a:srgbClr val="53DC9D"/>
          </a:solidFill>
          <a:ln>
            <a:solidFill>
              <a:srgbClr val="53DC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30568" y="713232"/>
            <a:ext cx="4526279" cy="1828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800" b="1" i="0">
                <a:solidFill>
                  <a:srgbClr val="9DB1CA"/>
                </a:solidFill>
                <a:latin typeface="Aptos"/>
              </a:rPr>
              <a:t>CityPulse / Operations Overview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1078992"/>
            <a:ext cx="246888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500" b="1" i="0">
                <a:solidFill>
                  <a:srgbClr val="F2F7FF"/>
                </a:solidFill>
                <a:latin typeface="Aptos"/>
              </a:rPr>
              <a:t>City operations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802368" y="1078992"/>
            <a:ext cx="1325880" cy="256032"/>
          </a:xfrm>
          <a:prstGeom prst="roundRect">
            <a:avLst>
              <a:gd name="adj" fmla="val 12000"/>
            </a:avLst>
          </a:prstGeom>
          <a:solidFill>
            <a:srgbClr val="13333A"/>
          </a:solidFill>
          <a:ln>
            <a:solidFill>
              <a:srgbClr val="133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838944" y="1088136"/>
            <a:ext cx="1252728" cy="2194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800" b="1" i="0">
                <a:solidFill>
                  <a:srgbClr val="53DC9D"/>
                </a:solidFill>
                <a:latin typeface="Aptos"/>
              </a:rPr>
              <a:t>LIVE CONCEPT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46520" y="1508760"/>
            <a:ext cx="1389888" cy="713232"/>
          </a:xfrm>
          <a:prstGeom prst="roundRect">
            <a:avLst>
              <a:gd name="adj" fmla="val 12000"/>
            </a:avLst>
          </a:prstGeom>
          <a:solidFill>
            <a:srgbClr val="162945"/>
          </a:solidFill>
          <a:ln>
            <a:solidFill>
              <a:srgbClr val="16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56248" y="1609344"/>
            <a:ext cx="11430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800" b="1" i="0">
                <a:solidFill>
                  <a:srgbClr val="27DAE8"/>
                </a:solidFill>
                <a:latin typeface="Aptos"/>
              </a:rPr>
              <a:t>128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56248" y="1920240"/>
            <a:ext cx="1188720" cy="1828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700" b="1" i="0">
                <a:solidFill>
                  <a:srgbClr val="9DB1CA"/>
                </a:solidFill>
                <a:latin typeface="Aptos"/>
              </a:rPr>
              <a:t>Open reports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82712" y="1508760"/>
            <a:ext cx="1389888" cy="713232"/>
          </a:xfrm>
          <a:prstGeom prst="roundRect">
            <a:avLst>
              <a:gd name="adj" fmla="val 12000"/>
            </a:avLst>
          </a:prstGeom>
          <a:solidFill>
            <a:srgbClr val="162945"/>
          </a:solidFill>
          <a:ln>
            <a:solidFill>
              <a:srgbClr val="16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092440" y="1609344"/>
            <a:ext cx="11430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800" b="1" i="0">
                <a:solidFill>
                  <a:srgbClr val="FFB85C"/>
                </a:solidFill>
                <a:latin typeface="Aptos"/>
              </a:rPr>
              <a:t>34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2440" y="1920240"/>
            <a:ext cx="1188720" cy="1828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700" b="1" i="0">
                <a:solidFill>
                  <a:srgbClr val="9DB1CA"/>
                </a:solidFill>
                <a:latin typeface="Aptos"/>
              </a:rPr>
              <a:t>In progress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18904" y="1508760"/>
            <a:ext cx="1389888" cy="713232"/>
          </a:xfrm>
          <a:prstGeom prst="roundRect">
            <a:avLst>
              <a:gd name="adj" fmla="val 12000"/>
            </a:avLst>
          </a:prstGeom>
          <a:solidFill>
            <a:srgbClr val="162945"/>
          </a:solidFill>
          <a:ln>
            <a:solidFill>
              <a:srgbClr val="16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628632" y="1609344"/>
            <a:ext cx="11430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800" b="1" i="0">
                <a:solidFill>
                  <a:srgbClr val="53DC9D"/>
                </a:solidFill>
                <a:latin typeface="Aptos"/>
              </a:rPr>
              <a:t>76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28632" y="1920240"/>
            <a:ext cx="1188720" cy="1828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700" b="1" i="0">
                <a:solidFill>
                  <a:srgbClr val="9DB1CA"/>
                </a:solidFill>
                <a:latin typeface="Aptos"/>
              </a:rPr>
              <a:t>Resolved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46520" y="2423160"/>
            <a:ext cx="2788920" cy="2971800"/>
          </a:xfrm>
          <a:prstGeom prst="roundRect">
            <a:avLst>
              <a:gd name="adj" fmla="val 12000"/>
            </a:avLst>
          </a:prstGeom>
          <a:solidFill>
            <a:srgbClr val="0E1E34"/>
          </a:solidFill>
          <a:ln>
            <a:solidFill>
              <a:srgbClr val="2E46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6611112" y="2587752"/>
            <a:ext cx="480059" cy="701040"/>
          </a:xfrm>
          <a:prstGeom prst="roundRect">
            <a:avLst>
              <a:gd name="adj" fmla="val 12000"/>
            </a:avLst>
          </a:prstGeom>
          <a:solidFill>
            <a:srgbClr val="152C40"/>
          </a:solidFill>
          <a:ln>
            <a:solidFill>
              <a:srgbClr val="152C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6611112" y="3410712"/>
            <a:ext cx="480059" cy="701040"/>
          </a:xfrm>
          <a:prstGeom prst="roundRect">
            <a:avLst>
              <a:gd name="adj" fmla="val 12000"/>
            </a:avLst>
          </a:prstGeom>
          <a:solidFill>
            <a:srgbClr val="152C40"/>
          </a:solidFill>
          <a:ln>
            <a:solidFill>
              <a:srgbClr val="152C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6611112" y="4233672"/>
            <a:ext cx="480059" cy="701040"/>
          </a:xfrm>
          <a:prstGeom prst="roundRect">
            <a:avLst>
              <a:gd name="adj" fmla="val 12000"/>
            </a:avLst>
          </a:prstGeom>
          <a:solidFill>
            <a:srgbClr val="152C40"/>
          </a:solidFill>
          <a:ln>
            <a:solidFill>
              <a:srgbClr val="152C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7182612" y="2587752"/>
            <a:ext cx="480059" cy="701040"/>
          </a:xfrm>
          <a:prstGeom prst="roundRect">
            <a:avLst>
              <a:gd name="adj" fmla="val 12000"/>
            </a:avLst>
          </a:prstGeom>
          <a:solidFill>
            <a:srgbClr val="152C40"/>
          </a:solidFill>
          <a:ln>
            <a:solidFill>
              <a:srgbClr val="152C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7182612" y="3410712"/>
            <a:ext cx="480059" cy="701040"/>
          </a:xfrm>
          <a:prstGeom prst="roundRect">
            <a:avLst>
              <a:gd name="adj" fmla="val 12000"/>
            </a:avLst>
          </a:prstGeom>
          <a:solidFill>
            <a:srgbClr val="152C40"/>
          </a:solidFill>
          <a:ln>
            <a:solidFill>
              <a:srgbClr val="152C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7182612" y="4233672"/>
            <a:ext cx="480059" cy="701040"/>
          </a:xfrm>
          <a:prstGeom prst="roundRect">
            <a:avLst>
              <a:gd name="adj" fmla="val 12000"/>
            </a:avLst>
          </a:prstGeom>
          <a:solidFill>
            <a:srgbClr val="152C40"/>
          </a:solidFill>
          <a:ln>
            <a:solidFill>
              <a:srgbClr val="152C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7754112" y="2587752"/>
            <a:ext cx="480059" cy="701040"/>
          </a:xfrm>
          <a:prstGeom prst="roundRect">
            <a:avLst>
              <a:gd name="adj" fmla="val 12000"/>
            </a:avLst>
          </a:prstGeom>
          <a:solidFill>
            <a:srgbClr val="152C40"/>
          </a:solidFill>
          <a:ln>
            <a:solidFill>
              <a:srgbClr val="152C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7754112" y="3410712"/>
            <a:ext cx="480059" cy="701040"/>
          </a:xfrm>
          <a:prstGeom prst="roundRect">
            <a:avLst>
              <a:gd name="adj" fmla="val 12000"/>
            </a:avLst>
          </a:prstGeom>
          <a:solidFill>
            <a:srgbClr val="152C40"/>
          </a:solidFill>
          <a:ln>
            <a:solidFill>
              <a:srgbClr val="152C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7754112" y="4233672"/>
            <a:ext cx="480059" cy="701040"/>
          </a:xfrm>
          <a:prstGeom prst="roundRect">
            <a:avLst>
              <a:gd name="adj" fmla="val 12000"/>
            </a:avLst>
          </a:prstGeom>
          <a:solidFill>
            <a:srgbClr val="152C40"/>
          </a:solidFill>
          <a:ln>
            <a:solidFill>
              <a:srgbClr val="152C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8325612" y="2587752"/>
            <a:ext cx="480059" cy="701040"/>
          </a:xfrm>
          <a:prstGeom prst="roundRect">
            <a:avLst>
              <a:gd name="adj" fmla="val 12000"/>
            </a:avLst>
          </a:prstGeom>
          <a:solidFill>
            <a:srgbClr val="152C40"/>
          </a:solidFill>
          <a:ln>
            <a:solidFill>
              <a:srgbClr val="152C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8325612" y="3410712"/>
            <a:ext cx="480059" cy="701040"/>
          </a:xfrm>
          <a:prstGeom prst="roundRect">
            <a:avLst>
              <a:gd name="adj" fmla="val 12000"/>
            </a:avLst>
          </a:prstGeom>
          <a:solidFill>
            <a:srgbClr val="152C40"/>
          </a:solidFill>
          <a:ln>
            <a:solidFill>
              <a:srgbClr val="152C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8325612" y="4233672"/>
            <a:ext cx="480059" cy="701040"/>
          </a:xfrm>
          <a:prstGeom prst="roundRect">
            <a:avLst>
              <a:gd name="adj" fmla="val 12000"/>
            </a:avLst>
          </a:prstGeom>
          <a:solidFill>
            <a:srgbClr val="152C40"/>
          </a:solidFill>
          <a:ln>
            <a:solidFill>
              <a:srgbClr val="152C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5" name="Connector 44"/>
          <p:cNvCxnSpPr/>
          <p:nvPr/>
        </p:nvCxnSpPr>
        <p:spPr>
          <a:xfrm>
            <a:off x="6519672" y="3166110"/>
            <a:ext cx="2642616" cy="0"/>
          </a:xfrm>
          <a:prstGeom prst="line">
            <a:avLst/>
          </a:prstGeom>
          <a:ln w="25400">
            <a:solidFill>
              <a:srgbClr val="425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6519672" y="3909060"/>
            <a:ext cx="2642616" cy="0"/>
          </a:xfrm>
          <a:prstGeom prst="line">
            <a:avLst/>
          </a:prstGeom>
          <a:ln w="25400">
            <a:solidFill>
              <a:srgbClr val="425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6519672" y="4652010"/>
            <a:ext cx="2642616" cy="0"/>
          </a:xfrm>
          <a:prstGeom prst="line">
            <a:avLst/>
          </a:prstGeom>
          <a:ln w="25400">
            <a:solidFill>
              <a:srgbClr val="425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7004304" y="2496312"/>
            <a:ext cx="0" cy="2825496"/>
          </a:xfrm>
          <a:prstGeom prst="line">
            <a:avLst/>
          </a:prstGeom>
          <a:ln w="25400">
            <a:solidFill>
              <a:srgbClr val="425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7562088" y="2496312"/>
            <a:ext cx="0" cy="2825496"/>
          </a:xfrm>
          <a:prstGeom prst="line">
            <a:avLst/>
          </a:prstGeom>
          <a:ln w="25400">
            <a:solidFill>
              <a:srgbClr val="425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8119871" y="2496312"/>
            <a:ext cx="0" cy="2825496"/>
          </a:xfrm>
          <a:prstGeom prst="line">
            <a:avLst/>
          </a:prstGeom>
          <a:ln w="25400">
            <a:solidFill>
              <a:srgbClr val="425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8677656" y="2496312"/>
            <a:ext cx="0" cy="2825496"/>
          </a:xfrm>
          <a:prstGeom prst="line">
            <a:avLst/>
          </a:prstGeom>
          <a:ln w="25400">
            <a:solidFill>
              <a:srgbClr val="425F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6611112" y="2606040"/>
            <a:ext cx="2459736" cy="2606040"/>
          </a:xfrm>
          <a:prstGeom prst="line">
            <a:avLst/>
          </a:prstGeom>
          <a:ln w="38100">
            <a:solidFill>
              <a:srgbClr val="5D7E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Oval 52"/>
          <p:cNvSpPr/>
          <p:nvPr/>
        </p:nvSpPr>
        <p:spPr>
          <a:xfrm>
            <a:off x="7070598" y="3182112"/>
            <a:ext cx="164592" cy="164592"/>
          </a:xfrm>
          <a:prstGeom prst="ellipse">
            <a:avLst/>
          </a:prstGeom>
          <a:solidFill>
            <a:srgbClr val="FF6C7A"/>
          </a:solidFill>
          <a:ln>
            <a:solidFill>
              <a:srgbClr val="FF6C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7120890" y="3232404"/>
            <a:ext cx="64008" cy="64008"/>
          </a:xfrm>
          <a:prstGeom prst="ellipse">
            <a:avLst/>
          </a:prstGeom>
          <a:solidFill>
            <a:srgbClr val="F2F7FF"/>
          </a:solidFill>
          <a:ln>
            <a:solidFill>
              <a:srgbClr val="F2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8269833" y="3895344"/>
            <a:ext cx="164592" cy="164592"/>
          </a:xfrm>
          <a:prstGeom prst="ellipse">
            <a:avLst/>
          </a:prstGeom>
          <a:solidFill>
            <a:srgbClr val="FFB85C"/>
          </a:solidFill>
          <a:ln>
            <a:solidFill>
              <a:srgbClr val="FFB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8320125" y="3945635"/>
            <a:ext cx="64008" cy="64008"/>
          </a:xfrm>
          <a:prstGeom prst="ellipse">
            <a:avLst/>
          </a:prstGeom>
          <a:solidFill>
            <a:srgbClr val="F2F7FF"/>
          </a:solidFill>
          <a:ln>
            <a:solidFill>
              <a:srgbClr val="F2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7656271" y="4608576"/>
            <a:ext cx="164592" cy="164592"/>
          </a:xfrm>
          <a:prstGeom prst="ellipse">
            <a:avLst/>
          </a:prstGeom>
          <a:solidFill>
            <a:srgbClr val="27DAE8"/>
          </a:solidFill>
          <a:ln>
            <a:solidFill>
              <a:srgbClr val="27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7706563" y="4658868"/>
            <a:ext cx="64008" cy="64008"/>
          </a:xfrm>
          <a:prstGeom prst="ellipse">
            <a:avLst/>
          </a:prstGeom>
          <a:solidFill>
            <a:srgbClr val="F2F7FF"/>
          </a:solidFill>
          <a:ln>
            <a:solidFill>
              <a:srgbClr val="F2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8548725" y="3092958"/>
            <a:ext cx="164592" cy="164592"/>
          </a:xfrm>
          <a:prstGeom prst="ellipse">
            <a:avLst/>
          </a:prstGeom>
          <a:solidFill>
            <a:srgbClr val="53DC9D"/>
          </a:solidFill>
          <a:ln>
            <a:solidFill>
              <a:srgbClr val="53DC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8599017" y="3143250"/>
            <a:ext cx="64008" cy="64008"/>
          </a:xfrm>
          <a:prstGeom prst="ellipse">
            <a:avLst/>
          </a:prstGeom>
          <a:solidFill>
            <a:srgbClr val="F2F7FF"/>
          </a:solidFill>
          <a:ln>
            <a:solidFill>
              <a:srgbClr val="F2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9400032" y="2423160"/>
            <a:ext cx="1828800" cy="2971800"/>
          </a:xfrm>
          <a:prstGeom prst="roundRect">
            <a:avLst>
              <a:gd name="adj" fmla="val 12000"/>
            </a:avLst>
          </a:prstGeom>
          <a:solidFill>
            <a:srgbClr val="111F38"/>
          </a:solidFill>
          <a:ln>
            <a:solidFill>
              <a:srgbClr val="111F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582912" y="2578608"/>
            <a:ext cx="1463040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F2F7FF"/>
                </a:solidFill>
                <a:latin typeface="Aptos"/>
              </a:rPr>
              <a:t>Recent reports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9555480" y="2926079"/>
            <a:ext cx="1508760" cy="0"/>
          </a:xfrm>
          <a:prstGeom prst="line">
            <a:avLst/>
          </a:prstGeom>
          <a:ln w="7620">
            <a:solidFill>
              <a:srgbClr val="2E46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Oval 63"/>
          <p:cNvSpPr/>
          <p:nvPr/>
        </p:nvSpPr>
        <p:spPr>
          <a:xfrm>
            <a:off x="9582912" y="3054096"/>
            <a:ext cx="91440" cy="91440"/>
          </a:xfrm>
          <a:prstGeom prst="ellipse">
            <a:avLst/>
          </a:prstGeom>
          <a:solidFill>
            <a:srgbClr val="FF6C7A"/>
          </a:solidFill>
          <a:ln>
            <a:solidFill>
              <a:srgbClr val="FF6C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738360" y="2999232"/>
            <a:ext cx="1325880" cy="23774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700" b="1" i="0">
                <a:solidFill>
                  <a:srgbClr val="F2F7FF"/>
                </a:solidFill>
                <a:latin typeface="Aptos"/>
              </a:rPr>
              <a:t>Pothole • Ward 04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738360" y="3273551"/>
            <a:ext cx="1280160" cy="1828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600" b="1" i="0">
                <a:solidFill>
                  <a:srgbClr val="FF6C7A"/>
                </a:solidFill>
                <a:latin typeface="Aptos"/>
              </a:rPr>
              <a:t>REPORTED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9555480" y="3703320"/>
            <a:ext cx="1508760" cy="0"/>
          </a:xfrm>
          <a:prstGeom prst="line">
            <a:avLst/>
          </a:prstGeom>
          <a:ln w="7620">
            <a:solidFill>
              <a:srgbClr val="2E46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Oval 67"/>
          <p:cNvSpPr/>
          <p:nvPr/>
        </p:nvSpPr>
        <p:spPr>
          <a:xfrm>
            <a:off x="9582912" y="3831335"/>
            <a:ext cx="91440" cy="91440"/>
          </a:xfrm>
          <a:prstGeom prst="ellipse">
            <a:avLst/>
          </a:prstGeom>
          <a:solidFill>
            <a:srgbClr val="FFB85C"/>
          </a:solidFill>
          <a:ln>
            <a:solidFill>
              <a:srgbClr val="FFB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9738360" y="3776472"/>
            <a:ext cx="1325880" cy="23774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700" b="1" i="0">
                <a:solidFill>
                  <a:srgbClr val="F2F7FF"/>
                </a:solidFill>
                <a:latin typeface="Aptos"/>
              </a:rPr>
              <a:t>Water leak • Zone B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738360" y="4050791"/>
            <a:ext cx="1280160" cy="1828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600" b="1" i="0">
                <a:solidFill>
                  <a:srgbClr val="FFB85C"/>
                </a:solidFill>
                <a:latin typeface="Aptos"/>
              </a:rPr>
              <a:t>IN PROGRESS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9555480" y="4480559"/>
            <a:ext cx="1508760" cy="0"/>
          </a:xfrm>
          <a:prstGeom prst="line">
            <a:avLst/>
          </a:prstGeom>
          <a:ln w="7620">
            <a:solidFill>
              <a:srgbClr val="2E46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Oval 71"/>
          <p:cNvSpPr/>
          <p:nvPr/>
        </p:nvSpPr>
        <p:spPr>
          <a:xfrm>
            <a:off x="9582912" y="4608575"/>
            <a:ext cx="91440" cy="91440"/>
          </a:xfrm>
          <a:prstGeom prst="ellipse">
            <a:avLst/>
          </a:prstGeom>
          <a:solidFill>
            <a:srgbClr val="53DC9D"/>
          </a:solidFill>
          <a:ln>
            <a:solidFill>
              <a:srgbClr val="53DC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9738360" y="4553712"/>
            <a:ext cx="1325880" cy="23774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700" b="1" i="0">
                <a:solidFill>
                  <a:srgbClr val="F2F7FF"/>
                </a:solidFill>
                <a:latin typeface="Aptos"/>
              </a:rPr>
              <a:t>Streetlight • Ward 02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738360" y="4828031"/>
            <a:ext cx="1280160" cy="1828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600" b="1" i="0">
                <a:solidFill>
                  <a:srgbClr val="53DC9D"/>
                </a:solidFill>
                <a:latin typeface="Aptos"/>
              </a:rPr>
              <a:t>RESOLVED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446520" y="5577840"/>
            <a:ext cx="466344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700" b="0" i="1">
                <a:solidFill>
                  <a:srgbClr val="9DB1CA"/>
                </a:solidFill>
                <a:latin typeface="Aptos"/>
              </a:rPr>
              <a:t>Illustrative prototype UI • replace with live app screenshots when available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566928" y="6510528"/>
            <a:ext cx="11064240" cy="0"/>
          </a:xfrm>
          <a:prstGeom prst="line">
            <a:avLst/>
          </a:prstGeom>
          <a:ln w="8890">
            <a:solidFill>
              <a:srgbClr val="2E46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594360" y="6537960"/>
            <a:ext cx="5029200" cy="16459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700" b="1" i="0">
                <a:solidFill>
                  <a:srgbClr val="9DB1CA"/>
                </a:solidFill>
                <a:latin typeface="Aptos"/>
              </a:rPr>
              <a:t>CITY ISSUE REPORTING DASHBOARD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607040" y="6537960"/>
            <a:ext cx="1005840" cy="16459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700" b="1" i="0">
                <a:solidFill>
                  <a:srgbClr val="9DB1CA"/>
                </a:solidFill>
                <a:latin typeface="Aptos"/>
              </a:rPr>
              <a:t>MERN • CIVIC TECH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797D8CD-0D14-79EA-7F8E-F8133C20DD17}"/>
              </a:ext>
            </a:extLst>
          </p:cNvPr>
          <p:cNvSpPr txBox="1"/>
          <p:nvPr/>
        </p:nvSpPr>
        <p:spPr>
          <a:xfrm>
            <a:off x="694944" y="4798339"/>
            <a:ext cx="311033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Team Members:</a:t>
            </a:r>
          </a:p>
          <a:p>
            <a:r>
              <a:rPr lang="en-IN" dirty="0" err="1">
                <a:solidFill>
                  <a:schemeClr val="bg1"/>
                </a:solidFill>
              </a:rPr>
              <a:t>B.Siddhardha</a:t>
            </a:r>
            <a:br>
              <a:rPr lang="en-IN" dirty="0">
                <a:solidFill>
                  <a:schemeClr val="bg1"/>
                </a:solidFill>
              </a:rPr>
            </a:br>
            <a:r>
              <a:rPr lang="en-IN" dirty="0" err="1">
                <a:solidFill>
                  <a:schemeClr val="bg1"/>
                </a:solidFill>
              </a:rPr>
              <a:t>R.Varshith</a:t>
            </a:r>
            <a:endParaRPr lang="en-IN" dirty="0">
              <a:solidFill>
                <a:schemeClr val="bg1"/>
              </a:solidFill>
            </a:endParaRPr>
          </a:p>
          <a:p>
            <a:r>
              <a:rPr lang="en-IN" dirty="0" err="1">
                <a:solidFill>
                  <a:schemeClr val="bg1"/>
                </a:solidFill>
              </a:rPr>
              <a:t>Ch.Kruthik</a:t>
            </a:r>
            <a:r>
              <a:rPr lang="en-IN" dirty="0">
                <a:solidFill>
                  <a:schemeClr val="bg1"/>
                </a:solidFill>
              </a:rPr>
              <a:t> Raj</a:t>
            </a:r>
          </a:p>
          <a:p>
            <a:r>
              <a:rPr lang="en-IN" dirty="0" err="1">
                <a:solidFill>
                  <a:schemeClr val="bg1"/>
                </a:solidFill>
              </a:rPr>
              <a:t>D.Abhilash</a:t>
            </a:r>
            <a:r>
              <a:rPr lang="en-IN" dirty="0">
                <a:solidFill>
                  <a:schemeClr val="bg1"/>
                </a:solidFill>
              </a:rPr>
              <a:t> Reddy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8046720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1" i="0">
                <a:solidFill>
                  <a:srgbClr val="27DAE8"/>
                </a:solidFill>
                <a:latin typeface="Aptos"/>
              </a:rPr>
              <a:t>01 / THE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03504"/>
            <a:ext cx="10972800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2700" b="1" i="0">
                <a:solidFill>
                  <a:srgbClr val="F2F7FF"/>
                </a:solidFill>
                <a:latin typeface="Aptos"/>
              </a:rPr>
              <a:t>Civic issues are visible. Progress often isn’t.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15568"/>
            <a:ext cx="10698480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0" i="0">
                <a:solidFill>
                  <a:srgbClr val="9DB1CA"/>
                </a:solidFill>
                <a:latin typeface="Aptos"/>
              </a:rPr>
              <a:t>Fragmented reporting makes it harder for residents and municipal teams to coordinate.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20040"/>
            <a:ext cx="502920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900" b="1" i="0">
                <a:solidFill>
                  <a:srgbClr val="9DB1CA"/>
                </a:solidFill>
                <a:latin typeface="Aptos"/>
              </a:rPr>
              <a:t>02 / 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737360"/>
            <a:ext cx="5166360" cy="4343400"/>
          </a:xfrm>
          <a:prstGeom prst="roundRect">
            <a:avLst>
              <a:gd name="adj" fmla="val 12000"/>
            </a:avLst>
          </a:prstGeom>
          <a:solidFill>
            <a:srgbClr val="111F38"/>
          </a:solidFill>
          <a:ln>
            <a:solidFill>
              <a:srgbClr val="111F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68680" y="1965960"/>
            <a:ext cx="1508760" cy="256032"/>
          </a:xfrm>
          <a:prstGeom prst="roundRect">
            <a:avLst>
              <a:gd name="adj" fmla="val 12000"/>
            </a:avLst>
          </a:prstGeom>
          <a:solidFill>
            <a:srgbClr val="362B23"/>
          </a:solidFill>
          <a:ln>
            <a:solidFill>
              <a:srgbClr val="362B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05256" y="1975103"/>
            <a:ext cx="1435607" cy="2194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800" b="1" i="0">
                <a:solidFill>
                  <a:srgbClr val="FFB85C"/>
                </a:solidFill>
                <a:latin typeface="Aptos"/>
              </a:rPr>
              <a:t>TRADITIONAL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95728"/>
            <a:ext cx="4297680" cy="3657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700" b="1" i="0">
                <a:solidFill>
                  <a:srgbClr val="F2F7FF"/>
                </a:solidFill>
                <a:latin typeface="Aptos"/>
              </a:rPr>
              <a:t>Scattered channels • Limited feedback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2971800"/>
            <a:ext cx="347472" cy="347472"/>
          </a:xfrm>
          <a:prstGeom prst="ellipse">
            <a:avLst/>
          </a:prstGeom>
          <a:solidFill>
            <a:srgbClr val="3F302B"/>
          </a:solidFill>
          <a:ln>
            <a:solidFill>
              <a:srgbClr val="3F3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980944"/>
            <a:ext cx="347472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800" b="1" i="0">
                <a:solidFill>
                  <a:srgbClr val="FFB85C"/>
                </a:solidFill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971800"/>
            <a:ext cx="3566160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0" i="0">
                <a:solidFill>
                  <a:srgbClr val="F2F7FF"/>
                </a:solidFill>
                <a:latin typeface="Aptos"/>
              </a:rPr>
              <a:t>Call / visit office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88136" y="3319272"/>
            <a:ext cx="0" cy="237744"/>
          </a:xfrm>
          <a:prstGeom prst="line">
            <a:avLst/>
          </a:prstGeom>
          <a:ln w="15240">
            <a:solidFill>
              <a:srgbClr val="2E46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914400" y="3593592"/>
            <a:ext cx="347472" cy="347472"/>
          </a:xfrm>
          <a:prstGeom prst="ellipse">
            <a:avLst/>
          </a:prstGeom>
          <a:solidFill>
            <a:srgbClr val="3F302B"/>
          </a:solidFill>
          <a:ln>
            <a:solidFill>
              <a:srgbClr val="3F3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3602736"/>
            <a:ext cx="347472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800" b="1" i="0">
                <a:solidFill>
                  <a:srgbClr val="FFB85C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593592"/>
            <a:ext cx="3566160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0" i="0">
                <a:solidFill>
                  <a:srgbClr val="F2F7FF"/>
                </a:solidFill>
                <a:latin typeface="Aptos"/>
              </a:rPr>
              <a:t>Details passed manually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88136" y="3941064"/>
            <a:ext cx="0" cy="237744"/>
          </a:xfrm>
          <a:prstGeom prst="line">
            <a:avLst/>
          </a:prstGeom>
          <a:ln w="15240">
            <a:solidFill>
              <a:srgbClr val="2E46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914400" y="4215384"/>
            <a:ext cx="347472" cy="347472"/>
          </a:xfrm>
          <a:prstGeom prst="ellipse">
            <a:avLst/>
          </a:prstGeom>
          <a:solidFill>
            <a:srgbClr val="3F302B"/>
          </a:solidFill>
          <a:ln>
            <a:solidFill>
              <a:srgbClr val="3F3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4224528"/>
            <a:ext cx="347472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800" b="1" i="0">
                <a:solidFill>
                  <a:srgbClr val="FFB85C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4215384"/>
            <a:ext cx="3566160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0" i="0">
                <a:solidFill>
                  <a:srgbClr val="F2F7FF"/>
                </a:solidFill>
                <a:latin typeface="Aptos"/>
              </a:rPr>
              <a:t>Status unclear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88136" y="4562856"/>
            <a:ext cx="0" cy="237744"/>
          </a:xfrm>
          <a:prstGeom prst="line">
            <a:avLst/>
          </a:prstGeom>
          <a:ln w="15240">
            <a:solidFill>
              <a:srgbClr val="2E46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914400" y="4837176"/>
            <a:ext cx="347472" cy="347472"/>
          </a:xfrm>
          <a:prstGeom prst="ellipse">
            <a:avLst/>
          </a:prstGeom>
          <a:solidFill>
            <a:srgbClr val="3F302B"/>
          </a:solidFill>
          <a:ln>
            <a:solidFill>
              <a:srgbClr val="3F30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4846320"/>
            <a:ext cx="347472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800" b="1" i="0">
                <a:solidFill>
                  <a:srgbClr val="FFB85C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4837176"/>
            <a:ext cx="3566160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0" i="0">
                <a:solidFill>
                  <a:srgbClr val="F2F7FF"/>
                </a:solidFill>
                <a:latin typeface="Aptos"/>
              </a:rPr>
              <a:t>Follow-up repeats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53328" y="1737360"/>
            <a:ext cx="5532120" cy="4343400"/>
          </a:xfrm>
          <a:prstGeom prst="roundRect">
            <a:avLst>
              <a:gd name="adj" fmla="val 12000"/>
            </a:avLst>
          </a:prstGeom>
          <a:solidFill>
            <a:srgbClr val="111F38"/>
          </a:solidFill>
          <a:ln>
            <a:solidFill>
              <a:srgbClr val="2257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355080" y="1965960"/>
            <a:ext cx="1600200" cy="256032"/>
          </a:xfrm>
          <a:prstGeom prst="roundRect">
            <a:avLst>
              <a:gd name="adj" fmla="val 12000"/>
            </a:avLst>
          </a:prstGeom>
          <a:solidFill>
            <a:srgbClr val="123644"/>
          </a:solidFill>
          <a:ln>
            <a:solidFill>
              <a:srgbClr val="123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91656" y="1975103"/>
            <a:ext cx="1527048" cy="2194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800" b="1" i="0">
                <a:solidFill>
                  <a:srgbClr val="27DAE8"/>
                </a:solidFill>
                <a:latin typeface="Aptos"/>
              </a:rPr>
              <a:t>CENTRALIZED FLOW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2395728"/>
            <a:ext cx="4754880" cy="36576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700" b="1" i="0">
                <a:solidFill>
                  <a:srgbClr val="F2F7FF"/>
                </a:solidFill>
                <a:latin typeface="Aptos"/>
              </a:rPr>
              <a:t>One record • Shared status • Clear ownership</a:t>
            </a:r>
          </a:p>
        </p:txBody>
      </p:sp>
      <p:sp>
        <p:nvSpPr>
          <p:cNvPr id="29" name="Oval 28"/>
          <p:cNvSpPr/>
          <p:nvPr/>
        </p:nvSpPr>
        <p:spPr>
          <a:xfrm>
            <a:off x="6400800" y="2971800"/>
            <a:ext cx="347472" cy="347472"/>
          </a:xfrm>
          <a:prstGeom prst="ellipse">
            <a:avLst/>
          </a:prstGeom>
          <a:solidFill>
            <a:srgbClr val="12414B"/>
          </a:solidFill>
          <a:ln>
            <a:solidFill>
              <a:srgbClr val="12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00800" y="2980944"/>
            <a:ext cx="347472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800" b="1" i="0">
                <a:solidFill>
                  <a:srgbClr val="27DAE8"/>
                </a:solidFill>
                <a:latin typeface="Aptos"/>
              </a:rPr>
              <a:t>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03720" y="2971800"/>
            <a:ext cx="4114800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0" i="0">
                <a:solidFill>
                  <a:srgbClr val="F2F7FF"/>
                </a:solidFill>
                <a:latin typeface="Aptos"/>
              </a:rPr>
              <a:t>Submit a structured report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574536" y="3319272"/>
            <a:ext cx="0" cy="237744"/>
          </a:xfrm>
          <a:prstGeom prst="line">
            <a:avLst/>
          </a:prstGeom>
          <a:ln w="15240">
            <a:solidFill>
              <a:srgbClr val="27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6400800" y="3593592"/>
            <a:ext cx="347472" cy="347472"/>
          </a:xfrm>
          <a:prstGeom prst="ellipse">
            <a:avLst/>
          </a:prstGeom>
          <a:solidFill>
            <a:srgbClr val="12414B"/>
          </a:solidFill>
          <a:ln>
            <a:solidFill>
              <a:srgbClr val="12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00800" y="3602736"/>
            <a:ext cx="347472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800" b="1" i="0">
                <a:solidFill>
                  <a:srgbClr val="27DAE8"/>
                </a:solidFill>
                <a:latin typeface="Aptos"/>
              </a:rPr>
              <a:t>02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03720" y="3593592"/>
            <a:ext cx="4114800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0" i="0">
                <a:solidFill>
                  <a:srgbClr val="F2F7FF"/>
                </a:solidFill>
                <a:latin typeface="Aptos"/>
              </a:rPr>
              <a:t>Route into one issue queue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574536" y="3941064"/>
            <a:ext cx="0" cy="237744"/>
          </a:xfrm>
          <a:prstGeom prst="line">
            <a:avLst/>
          </a:prstGeom>
          <a:ln w="15240">
            <a:solidFill>
              <a:srgbClr val="27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6400800" y="4215384"/>
            <a:ext cx="347472" cy="347472"/>
          </a:xfrm>
          <a:prstGeom prst="ellipse">
            <a:avLst/>
          </a:prstGeom>
          <a:solidFill>
            <a:srgbClr val="12414B"/>
          </a:solidFill>
          <a:ln>
            <a:solidFill>
              <a:srgbClr val="12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00800" y="4224528"/>
            <a:ext cx="347472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800" b="1" i="0">
                <a:solidFill>
                  <a:srgbClr val="27DAE8"/>
                </a:solidFill>
                <a:latin typeface="Aptos"/>
              </a:rPr>
              <a:t>03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03720" y="4215384"/>
            <a:ext cx="4114800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0" i="0">
                <a:solidFill>
                  <a:srgbClr val="F2F7FF"/>
                </a:solidFill>
                <a:latin typeface="Aptos"/>
              </a:rPr>
              <a:t>Assign and update status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574536" y="4562856"/>
            <a:ext cx="0" cy="237744"/>
          </a:xfrm>
          <a:prstGeom prst="line">
            <a:avLst/>
          </a:prstGeom>
          <a:ln w="15240">
            <a:solidFill>
              <a:srgbClr val="27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6400800" y="4837176"/>
            <a:ext cx="347472" cy="347472"/>
          </a:xfrm>
          <a:prstGeom prst="ellipse">
            <a:avLst/>
          </a:prstGeom>
          <a:solidFill>
            <a:srgbClr val="12414B"/>
          </a:solidFill>
          <a:ln>
            <a:solidFill>
              <a:srgbClr val="12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00800" y="4846320"/>
            <a:ext cx="347472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800" b="1" i="0">
                <a:solidFill>
                  <a:srgbClr val="27DAE8"/>
                </a:solidFill>
                <a:latin typeface="Aptos"/>
              </a:rPr>
              <a:t>04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03720" y="4837176"/>
            <a:ext cx="4114800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0" i="0">
                <a:solidFill>
                  <a:srgbClr val="F2F7FF"/>
                </a:solidFill>
                <a:latin typeface="Aptos"/>
              </a:rPr>
              <a:t>Citizen tracks progress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68680" y="5623560"/>
            <a:ext cx="10378440" cy="310896"/>
          </a:xfrm>
          <a:prstGeom prst="roundRect">
            <a:avLst>
              <a:gd name="adj" fmla="val 12000"/>
            </a:avLst>
          </a:prstGeom>
          <a:solidFill>
            <a:srgbClr val="162D43"/>
          </a:solidFill>
          <a:ln>
            <a:solidFill>
              <a:srgbClr val="162D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005840" y="5641848"/>
            <a:ext cx="10058400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000" b="1" i="0">
                <a:solidFill>
                  <a:srgbClr val="27DAE8"/>
                </a:solidFill>
                <a:latin typeface="Aptos"/>
              </a:rPr>
              <a:t>Core gap: no shared, trackable workflow from citizen report to municipal action.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566928" y="6510528"/>
            <a:ext cx="11064240" cy="0"/>
          </a:xfrm>
          <a:prstGeom prst="line">
            <a:avLst/>
          </a:prstGeom>
          <a:ln w="8890">
            <a:solidFill>
              <a:srgbClr val="2E46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594360" y="6537960"/>
            <a:ext cx="5029200" cy="16459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700" b="1" i="0">
                <a:solidFill>
                  <a:srgbClr val="9DB1CA"/>
                </a:solidFill>
                <a:latin typeface="Aptos"/>
              </a:rPr>
              <a:t>CITY ISSUE REPORTING DASHBOARD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07040" y="6537960"/>
            <a:ext cx="1005840" cy="16459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700" b="1" i="0">
                <a:solidFill>
                  <a:srgbClr val="9DB1CA"/>
                </a:solidFill>
                <a:latin typeface="Aptos"/>
              </a:rPr>
              <a:t>MERN • CIVIC TECH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8046720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1" i="0">
                <a:solidFill>
                  <a:srgbClr val="27DAE8"/>
                </a:solidFill>
                <a:latin typeface="Aptos"/>
              </a:rPr>
              <a:t>02 / 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03504"/>
            <a:ext cx="10972800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2700" b="1" i="0">
                <a:solidFill>
                  <a:srgbClr val="F2F7FF"/>
                </a:solidFill>
                <a:latin typeface="Aptos"/>
              </a:rPr>
              <a:t>One civic workspace—from report to resolution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15568"/>
            <a:ext cx="10698480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0" i="0">
                <a:solidFill>
                  <a:srgbClr val="9DB1CA"/>
                </a:solidFill>
                <a:latin typeface="Aptos"/>
              </a:rPr>
              <a:t>A centralized web app for citizens to report issues and administrators to manage the response.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20040"/>
            <a:ext cx="502920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900" b="1" i="0">
                <a:solidFill>
                  <a:srgbClr val="9DB1CA"/>
                </a:solidFill>
                <a:latin typeface="Aptos"/>
              </a:rPr>
              <a:t>03 / 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755648"/>
            <a:ext cx="2395728" cy="1024128"/>
          </a:xfrm>
          <a:prstGeom prst="roundRect">
            <a:avLst>
              <a:gd name="adj" fmla="val 12000"/>
            </a:avLst>
          </a:prstGeom>
          <a:solidFill>
            <a:srgbClr val="111F38"/>
          </a:solidFill>
          <a:ln>
            <a:solidFill>
              <a:srgbClr val="111F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8096" y="1865376"/>
            <a:ext cx="347472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1" i="0">
                <a:solidFill>
                  <a:srgbClr val="27DAE8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847088"/>
            <a:ext cx="169164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1" i="0">
                <a:solidFill>
                  <a:srgbClr val="F2F7FF"/>
                </a:solidFill>
                <a:latin typeface="Aptos"/>
              </a:rPr>
              <a:t>Structured reporting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194560"/>
            <a:ext cx="2103120" cy="4389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00" b="0" i="0">
                <a:solidFill>
                  <a:srgbClr val="9DB1CA"/>
                </a:solidFill>
                <a:latin typeface="Aptos"/>
              </a:rPr>
              <a:t>Title, description, category, location &amp; image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27832" y="1755648"/>
            <a:ext cx="2395728" cy="1024128"/>
          </a:xfrm>
          <a:prstGeom prst="roundRect">
            <a:avLst>
              <a:gd name="adj" fmla="val 12000"/>
            </a:avLst>
          </a:prstGeom>
          <a:solidFill>
            <a:srgbClr val="111F38"/>
          </a:solidFill>
          <a:ln>
            <a:solidFill>
              <a:srgbClr val="111F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74136" y="1865376"/>
            <a:ext cx="347472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1" i="0">
                <a:solidFill>
                  <a:srgbClr val="27DAE8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1847088"/>
            <a:ext cx="169164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1" i="0">
                <a:solidFill>
                  <a:srgbClr val="F2F7FF"/>
                </a:solidFill>
                <a:latin typeface="Aptos"/>
              </a:rPr>
              <a:t>Status tracking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74136" y="2194560"/>
            <a:ext cx="2103120" cy="4389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00" b="0" i="0">
                <a:solidFill>
                  <a:srgbClr val="9DB1CA"/>
                </a:solidFill>
                <a:latin typeface="Aptos"/>
              </a:rPr>
              <a:t>Reported → In Progress → Resolved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017520"/>
            <a:ext cx="2395728" cy="1024128"/>
          </a:xfrm>
          <a:prstGeom prst="roundRect">
            <a:avLst>
              <a:gd name="adj" fmla="val 12000"/>
            </a:avLst>
          </a:prstGeom>
          <a:solidFill>
            <a:srgbClr val="111F38"/>
          </a:solidFill>
          <a:ln>
            <a:solidFill>
              <a:srgbClr val="111F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68096" y="3127248"/>
            <a:ext cx="347472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1" i="0">
                <a:solidFill>
                  <a:srgbClr val="27DAE8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108960"/>
            <a:ext cx="169164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1" i="0">
                <a:solidFill>
                  <a:srgbClr val="F2F7FF"/>
                </a:solidFill>
                <a:latin typeface="Aptos"/>
              </a:rPr>
              <a:t>Powerful filters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" y="3456432"/>
            <a:ext cx="2103120" cy="4389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00" b="0" i="0">
                <a:solidFill>
                  <a:srgbClr val="9DB1CA"/>
                </a:solidFill>
                <a:latin typeface="Aptos"/>
              </a:rPr>
              <a:t>Narrow by category, area or status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27832" y="3017520"/>
            <a:ext cx="2395728" cy="1024128"/>
          </a:xfrm>
          <a:prstGeom prst="roundRect">
            <a:avLst>
              <a:gd name="adj" fmla="val 12000"/>
            </a:avLst>
          </a:prstGeom>
          <a:solidFill>
            <a:srgbClr val="111F38"/>
          </a:solidFill>
          <a:ln>
            <a:solidFill>
              <a:srgbClr val="111F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374136" y="3127248"/>
            <a:ext cx="347472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1" i="0">
                <a:solidFill>
                  <a:srgbClr val="27DAE8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3108960"/>
            <a:ext cx="169164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1" i="0">
                <a:solidFill>
                  <a:srgbClr val="F2F7FF"/>
                </a:solidFill>
                <a:latin typeface="Aptos"/>
              </a:rPr>
              <a:t>Admin control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74136" y="3456432"/>
            <a:ext cx="2103120" cy="4389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00" b="0" i="0">
                <a:solidFill>
                  <a:srgbClr val="9DB1CA"/>
                </a:solidFill>
                <a:latin typeface="Aptos"/>
              </a:rPr>
              <a:t>Review, assign, update and manage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" y="4279392"/>
            <a:ext cx="2395728" cy="1024128"/>
          </a:xfrm>
          <a:prstGeom prst="roundRect">
            <a:avLst>
              <a:gd name="adj" fmla="val 12000"/>
            </a:avLst>
          </a:prstGeom>
          <a:solidFill>
            <a:srgbClr val="111F38"/>
          </a:solidFill>
          <a:ln>
            <a:solidFill>
              <a:srgbClr val="111F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68096" y="4389120"/>
            <a:ext cx="347472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1" i="0">
                <a:solidFill>
                  <a:srgbClr val="27DAE8"/>
                </a:solidFill>
                <a:latin typeface="Aptos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4370831"/>
            <a:ext cx="169164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1" i="0">
                <a:solidFill>
                  <a:srgbClr val="F2F7FF"/>
                </a:solidFill>
                <a:latin typeface="Aptos"/>
              </a:rPr>
              <a:t>At-a-glance analytics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" y="4718304"/>
            <a:ext cx="2103120" cy="4389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800" b="0" i="0">
                <a:solidFill>
                  <a:srgbClr val="9DB1CA"/>
                </a:solidFill>
                <a:latin typeface="Aptos"/>
              </a:rPr>
              <a:t>Issue counts and category distribution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80760" y="1737360"/>
            <a:ext cx="5486400" cy="4251960"/>
          </a:xfrm>
          <a:prstGeom prst="roundRect">
            <a:avLst>
              <a:gd name="adj" fmla="val 12000"/>
            </a:avLst>
          </a:prstGeom>
          <a:solidFill>
            <a:srgbClr val="0D192C"/>
          </a:solidFill>
          <a:ln>
            <a:solidFill>
              <a:srgbClr val="2E46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080760" y="1737360"/>
            <a:ext cx="5486400" cy="320040"/>
          </a:xfrm>
          <a:prstGeom prst="roundRect">
            <a:avLst>
              <a:gd name="adj" fmla="val 12000"/>
            </a:avLst>
          </a:prstGeom>
          <a:solidFill>
            <a:srgbClr val="182A41"/>
          </a:solidFill>
          <a:ln>
            <a:solidFill>
              <a:srgbClr val="182A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6227064" y="1847088"/>
            <a:ext cx="64008" cy="64008"/>
          </a:xfrm>
          <a:prstGeom prst="ellipse">
            <a:avLst/>
          </a:prstGeom>
          <a:solidFill>
            <a:srgbClr val="FF6C7A"/>
          </a:solidFill>
          <a:ln>
            <a:solidFill>
              <a:srgbClr val="FF6C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6373368" y="1847088"/>
            <a:ext cx="64008" cy="64008"/>
          </a:xfrm>
          <a:prstGeom prst="ellipse">
            <a:avLst/>
          </a:prstGeom>
          <a:solidFill>
            <a:srgbClr val="FFB85C"/>
          </a:solidFill>
          <a:ln>
            <a:solidFill>
              <a:srgbClr val="FFB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6519672" y="1847088"/>
            <a:ext cx="64008" cy="64008"/>
          </a:xfrm>
          <a:prstGeom prst="ellipse">
            <a:avLst/>
          </a:prstGeom>
          <a:solidFill>
            <a:srgbClr val="53DC9D"/>
          </a:solidFill>
          <a:ln>
            <a:solidFill>
              <a:srgbClr val="53DC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739128" y="1792224"/>
            <a:ext cx="4663440" cy="1828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800" b="1" i="0">
                <a:solidFill>
                  <a:srgbClr val="9DB1CA"/>
                </a:solidFill>
                <a:latin typeface="Aptos"/>
              </a:rPr>
              <a:t>CityPulse / Issue management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2130552"/>
            <a:ext cx="2560320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300" b="1" i="0">
                <a:solidFill>
                  <a:srgbClr val="F2F7FF"/>
                </a:solidFill>
                <a:latin typeface="Aptos"/>
              </a:rPr>
              <a:t>Issue overview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829800" y="2130552"/>
            <a:ext cx="1325880" cy="256032"/>
          </a:xfrm>
          <a:prstGeom prst="roundRect">
            <a:avLst>
              <a:gd name="adj" fmla="val 12000"/>
            </a:avLst>
          </a:prstGeom>
          <a:solidFill>
            <a:srgbClr val="392D1E"/>
          </a:solidFill>
          <a:ln>
            <a:solidFill>
              <a:srgbClr val="392D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866376" y="2139696"/>
            <a:ext cx="1252728" cy="2194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700" b="1" i="0">
                <a:solidFill>
                  <a:srgbClr val="FFB85C"/>
                </a:solidFill>
                <a:latin typeface="Aptos"/>
              </a:rPr>
              <a:t>PROTOTYPE UI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55080" y="2514600"/>
            <a:ext cx="1417320" cy="594360"/>
          </a:xfrm>
          <a:prstGeom prst="roundRect">
            <a:avLst>
              <a:gd name="adj" fmla="val 12000"/>
            </a:avLst>
          </a:prstGeom>
          <a:solidFill>
            <a:srgbClr val="162945"/>
          </a:solidFill>
          <a:ln>
            <a:solidFill>
              <a:srgbClr val="16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46520" y="2578608"/>
            <a:ext cx="457200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500" b="1" i="0">
                <a:solidFill>
                  <a:srgbClr val="27DAE8"/>
                </a:solidFill>
                <a:latin typeface="Aptos"/>
              </a:rPr>
              <a:t>24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22008" y="2596896"/>
            <a:ext cx="777240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700" b="1" i="0">
                <a:solidFill>
                  <a:srgbClr val="9DB1CA"/>
                </a:solidFill>
                <a:latin typeface="Aptos"/>
              </a:rPr>
              <a:t>Reported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927848" y="2514600"/>
            <a:ext cx="1417320" cy="594360"/>
          </a:xfrm>
          <a:prstGeom prst="roundRect">
            <a:avLst>
              <a:gd name="adj" fmla="val 12000"/>
            </a:avLst>
          </a:prstGeom>
          <a:solidFill>
            <a:srgbClr val="162945"/>
          </a:solidFill>
          <a:ln>
            <a:solidFill>
              <a:srgbClr val="16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019288" y="2578608"/>
            <a:ext cx="457200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500" b="1" i="0">
                <a:solidFill>
                  <a:srgbClr val="FFB85C"/>
                </a:solidFill>
                <a:latin typeface="Aptos"/>
              </a:rPr>
              <a:t>11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94776" y="2596896"/>
            <a:ext cx="777240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700" b="1" i="0">
                <a:solidFill>
                  <a:srgbClr val="9DB1CA"/>
                </a:solidFill>
                <a:latin typeface="Aptos"/>
              </a:rPr>
              <a:t>In progress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500616" y="2514600"/>
            <a:ext cx="1417320" cy="594360"/>
          </a:xfrm>
          <a:prstGeom prst="roundRect">
            <a:avLst>
              <a:gd name="adj" fmla="val 12000"/>
            </a:avLst>
          </a:prstGeom>
          <a:solidFill>
            <a:srgbClr val="162945"/>
          </a:solidFill>
          <a:ln>
            <a:solidFill>
              <a:srgbClr val="1629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592056" y="2578608"/>
            <a:ext cx="457200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500" b="1" i="0">
                <a:solidFill>
                  <a:srgbClr val="53DC9D"/>
                </a:solidFill>
                <a:latin typeface="Aptos"/>
              </a:rPr>
              <a:t>39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67544" y="2596896"/>
            <a:ext cx="777240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700" b="1" i="0">
                <a:solidFill>
                  <a:srgbClr val="9DB1CA"/>
                </a:solidFill>
                <a:latin typeface="Aptos"/>
              </a:rPr>
              <a:t>Resolved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355080" y="3273552"/>
            <a:ext cx="4892040" cy="347472"/>
          </a:xfrm>
          <a:prstGeom prst="roundRect">
            <a:avLst>
              <a:gd name="adj" fmla="val 12000"/>
            </a:avLst>
          </a:prstGeom>
          <a:solidFill>
            <a:srgbClr val="14273E"/>
          </a:solidFill>
          <a:ln>
            <a:solidFill>
              <a:srgbClr val="1427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473952" y="3300984"/>
            <a:ext cx="4572000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800" b="0" i="0">
                <a:solidFill>
                  <a:srgbClr val="9DB1CA"/>
                </a:solidFill>
                <a:latin typeface="Aptos"/>
              </a:rPr>
              <a:t>Filter: All categories     Area: Any     Status: Any     ⌕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6400800" y="3694176"/>
            <a:ext cx="4800600" cy="0"/>
          </a:xfrm>
          <a:prstGeom prst="line">
            <a:avLst/>
          </a:prstGeom>
          <a:ln w="8890">
            <a:solidFill>
              <a:srgbClr val="2E46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6446520" y="3822191"/>
            <a:ext cx="109728" cy="109728"/>
          </a:xfrm>
          <a:prstGeom prst="ellipse">
            <a:avLst/>
          </a:prstGeom>
          <a:solidFill>
            <a:srgbClr val="FF6C7A"/>
          </a:solidFill>
          <a:ln>
            <a:solidFill>
              <a:srgbClr val="FF6C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656832" y="3749039"/>
            <a:ext cx="1965960" cy="23774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1" i="0">
                <a:solidFill>
                  <a:srgbClr val="F2F7FF"/>
                </a:solidFill>
                <a:latin typeface="Aptos"/>
              </a:rPr>
              <a:t>Pothole on Main Rd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32520" y="3749039"/>
            <a:ext cx="1051560" cy="23774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800" b="0" i="0">
                <a:solidFill>
                  <a:srgbClr val="9DB1CA"/>
                </a:solidFill>
                <a:latin typeface="Aptos"/>
              </a:rPr>
              <a:t>Road damage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921240" y="3758183"/>
            <a:ext cx="1143000" cy="256032"/>
          </a:xfrm>
          <a:prstGeom prst="roundRect">
            <a:avLst>
              <a:gd name="adj" fmla="val 12000"/>
            </a:avLst>
          </a:prstGeom>
          <a:solidFill>
            <a:srgbClr val="1C2A39"/>
          </a:solidFill>
          <a:ln>
            <a:solidFill>
              <a:srgbClr val="1C2A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957815" y="3767327"/>
            <a:ext cx="1069848" cy="2194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600" b="1" i="0">
                <a:solidFill>
                  <a:srgbClr val="FF6C7A"/>
                </a:solidFill>
                <a:latin typeface="Aptos"/>
              </a:rPr>
              <a:t>REPORTED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6400800" y="4315968"/>
            <a:ext cx="4800600" cy="0"/>
          </a:xfrm>
          <a:prstGeom prst="line">
            <a:avLst/>
          </a:prstGeom>
          <a:ln w="8890">
            <a:solidFill>
              <a:srgbClr val="2E46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Oval 52"/>
          <p:cNvSpPr/>
          <p:nvPr/>
        </p:nvSpPr>
        <p:spPr>
          <a:xfrm>
            <a:off x="6446520" y="4443983"/>
            <a:ext cx="109728" cy="109728"/>
          </a:xfrm>
          <a:prstGeom prst="ellipse">
            <a:avLst/>
          </a:prstGeom>
          <a:solidFill>
            <a:srgbClr val="FFB85C"/>
          </a:solidFill>
          <a:ln>
            <a:solidFill>
              <a:srgbClr val="FFB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656832" y="4370831"/>
            <a:ext cx="1965960" cy="23774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1" i="0">
                <a:solidFill>
                  <a:srgbClr val="F2F7FF"/>
                </a:solidFill>
                <a:latin typeface="Aptos"/>
              </a:rPr>
              <a:t>Overflowing bin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732520" y="4370831"/>
            <a:ext cx="1051560" cy="23774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800" b="0" i="0">
                <a:solidFill>
                  <a:srgbClr val="9DB1CA"/>
                </a:solidFill>
                <a:latin typeface="Aptos"/>
              </a:rPr>
              <a:t>Sanitation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921240" y="4379975"/>
            <a:ext cx="1143000" cy="256032"/>
          </a:xfrm>
          <a:prstGeom prst="roundRect">
            <a:avLst>
              <a:gd name="adj" fmla="val 12000"/>
            </a:avLst>
          </a:prstGeom>
          <a:solidFill>
            <a:srgbClr val="1C2A39"/>
          </a:solidFill>
          <a:ln>
            <a:solidFill>
              <a:srgbClr val="1C2A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9957815" y="4389119"/>
            <a:ext cx="1069848" cy="2194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600" b="1" i="0">
                <a:solidFill>
                  <a:srgbClr val="FFB85C"/>
                </a:solidFill>
                <a:latin typeface="Aptos"/>
              </a:rPr>
              <a:t>IN PROGRESS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6400800" y="4937760"/>
            <a:ext cx="4800600" cy="0"/>
          </a:xfrm>
          <a:prstGeom prst="line">
            <a:avLst/>
          </a:prstGeom>
          <a:ln w="8890">
            <a:solidFill>
              <a:srgbClr val="2E46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Oval 58"/>
          <p:cNvSpPr/>
          <p:nvPr/>
        </p:nvSpPr>
        <p:spPr>
          <a:xfrm>
            <a:off x="6446520" y="5065776"/>
            <a:ext cx="109728" cy="109728"/>
          </a:xfrm>
          <a:prstGeom prst="ellipse">
            <a:avLst/>
          </a:prstGeom>
          <a:solidFill>
            <a:srgbClr val="53DC9D"/>
          </a:solidFill>
          <a:ln>
            <a:solidFill>
              <a:srgbClr val="53DC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656832" y="4992624"/>
            <a:ext cx="1965960" cy="23774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1" i="0">
                <a:solidFill>
                  <a:srgbClr val="F2F7FF"/>
                </a:solidFill>
                <a:latin typeface="Aptos"/>
              </a:rPr>
              <a:t>Streetlight out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732520" y="4992624"/>
            <a:ext cx="1051560" cy="23774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800" b="0" i="0">
                <a:solidFill>
                  <a:srgbClr val="9DB1CA"/>
                </a:solidFill>
                <a:latin typeface="Aptos"/>
              </a:rPr>
              <a:t>Electrical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921240" y="5001768"/>
            <a:ext cx="1143000" cy="256032"/>
          </a:xfrm>
          <a:prstGeom prst="roundRect">
            <a:avLst>
              <a:gd name="adj" fmla="val 12000"/>
            </a:avLst>
          </a:prstGeom>
          <a:solidFill>
            <a:srgbClr val="1C2A39"/>
          </a:solidFill>
          <a:ln>
            <a:solidFill>
              <a:srgbClr val="1C2A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9957815" y="5010912"/>
            <a:ext cx="1069848" cy="2194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600" b="1" i="0">
                <a:solidFill>
                  <a:srgbClr val="53DC9D"/>
                </a:solidFill>
                <a:latin typeface="Aptos"/>
              </a:rPr>
              <a:t>RESOLVED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58368" y="5779008"/>
            <a:ext cx="5029200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800" b="1" i="0">
                <a:solidFill>
                  <a:srgbClr val="FFB85C"/>
                </a:solidFill>
                <a:latin typeface="Aptos"/>
              </a:rPr>
              <a:t>FEATURES SHOWN ARE PROPOSED UI CONCEPTS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566928" y="6510528"/>
            <a:ext cx="11064240" cy="0"/>
          </a:xfrm>
          <a:prstGeom prst="line">
            <a:avLst/>
          </a:prstGeom>
          <a:ln w="8890">
            <a:solidFill>
              <a:srgbClr val="2E46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594360" y="6537960"/>
            <a:ext cx="5029200" cy="16459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700" b="1" i="0">
                <a:solidFill>
                  <a:srgbClr val="9DB1CA"/>
                </a:solidFill>
                <a:latin typeface="Aptos"/>
              </a:rPr>
              <a:t>CITY ISSUE REPORTING DASHBOARD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607040" y="6537960"/>
            <a:ext cx="1005840" cy="16459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700" b="1" i="0">
                <a:solidFill>
                  <a:srgbClr val="9DB1CA"/>
                </a:solidFill>
                <a:latin typeface="Aptos"/>
              </a:rPr>
              <a:t>MERN • CIVIC TECH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8046720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1" i="0">
                <a:solidFill>
                  <a:srgbClr val="27DAE8"/>
                </a:solidFill>
                <a:latin typeface="Aptos"/>
              </a:rPr>
              <a:t>03 / TECHNICAL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03504"/>
            <a:ext cx="10972800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2700" b="1" i="0">
                <a:solidFill>
                  <a:srgbClr val="F2F7FF"/>
                </a:solidFill>
                <a:latin typeface="Aptos"/>
              </a:rPr>
              <a:t>MERN architecture with clear service boundaries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15568"/>
            <a:ext cx="10698480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0" i="0">
                <a:solidFill>
                  <a:srgbClr val="9DB1CA"/>
                </a:solidFill>
                <a:latin typeface="Aptos"/>
              </a:rPr>
              <a:t>REST APIs connect the React experience to validated business logic, persistent records and image storage.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20040"/>
            <a:ext cx="502920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900" b="1" i="0">
                <a:solidFill>
                  <a:srgbClr val="9DB1CA"/>
                </a:solidFill>
                <a:latin typeface="Aptos"/>
              </a:rPr>
              <a:t>04 / 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2423160" cy="1965960"/>
          </a:xfrm>
          <a:prstGeom prst="roundRect">
            <a:avLst>
              <a:gd name="adj" fmla="val 12000"/>
            </a:avLst>
          </a:prstGeom>
          <a:solidFill>
            <a:srgbClr val="111F38"/>
          </a:solidFill>
          <a:ln>
            <a:solidFill>
              <a:srgbClr val="2E46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965960"/>
            <a:ext cx="64008" cy="1965960"/>
          </a:xfrm>
          <a:prstGeom prst="rect">
            <a:avLst/>
          </a:prstGeom>
          <a:solidFill>
            <a:srgbClr val="27DAE8"/>
          </a:solidFill>
          <a:ln>
            <a:solidFill>
              <a:srgbClr val="27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59" y="2130552"/>
            <a:ext cx="2103120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1" i="0">
                <a:solidFill>
                  <a:srgbClr val="27DAE8"/>
                </a:solidFill>
                <a:latin typeface="Aptos"/>
              </a:rPr>
              <a:t>REACT.JS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441448"/>
            <a:ext cx="2103120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1" i="0">
                <a:solidFill>
                  <a:srgbClr val="F2F7FF"/>
                </a:solidFill>
                <a:latin typeface="Aptos"/>
              </a:rPr>
              <a:t>Citizen &amp; admin UI</a:t>
            </a:r>
          </a:p>
        </p:txBody>
      </p:sp>
      <p:sp>
        <p:nvSpPr>
          <p:cNvPr id="10" name="Oval 9"/>
          <p:cNvSpPr/>
          <p:nvPr/>
        </p:nvSpPr>
        <p:spPr>
          <a:xfrm>
            <a:off x="822959" y="2980944"/>
            <a:ext cx="82296" cy="82296"/>
          </a:xfrm>
          <a:prstGeom prst="ellipse">
            <a:avLst/>
          </a:prstGeom>
          <a:solidFill>
            <a:srgbClr val="27DAE8"/>
          </a:solidFill>
          <a:ln>
            <a:solidFill>
              <a:srgbClr val="27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24127" y="2862072"/>
            <a:ext cx="1901951" cy="38404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800" b="0" i="0">
                <a:solidFill>
                  <a:srgbClr val="F2F7FF"/>
                </a:solidFill>
                <a:latin typeface="Aptos"/>
              </a:rPr>
              <a:t>Report form</a:t>
            </a:r>
          </a:p>
        </p:txBody>
      </p:sp>
      <p:sp>
        <p:nvSpPr>
          <p:cNvPr id="12" name="Oval 11"/>
          <p:cNvSpPr/>
          <p:nvPr/>
        </p:nvSpPr>
        <p:spPr>
          <a:xfrm>
            <a:off x="822959" y="3264408"/>
            <a:ext cx="82296" cy="82296"/>
          </a:xfrm>
          <a:prstGeom prst="ellipse">
            <a:avLst/>
          </a:prstGeom>
          <a:solidFill>
            <a:srgbClr val="27DAE8"/>
          </a:solidFill>
          <a:ln>
            <a:solidFill>
              <a:srgbClr val="27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24127" y="3145536"/>
            <a:ext cx="1901951" cy="38404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800" b="0" i="0">
                <a:solidFill>
                  <a:srgbClr val="F2F7FF"/>
                </a:solidFill>
                <a:latin typeface="Aptos"/>
              </a:rPr>
              <a:t>Issue list + filters</a:t>
            </a:r>
          </a:p>
        </p:txBody>
      </p:sp>
      <p:sp>
        <p:nvSpPr>
          <p:cNvPr id="14" name="Oval 13"/>
          <p:cNvSpPr/>
          <p:nvPr/>
        </p:nvSpPr>
        <p:spPr>
          <a:xfrm>
            <a:off x="822959" y="3547872"/>
            <a:ext cx="82296" cy="82296"/>
          </a:xfrm>
          <a:prstGeom prst="ellipse">
            <a:avLst/>
          </a:prstGeom>
          <a:solidFill>
            <a:srgbClr val="27DAE8"/>
          </a:solidFill>
          <a:ln>
            <a:solidFill>
              <a:srgbClr val="27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24127" y="3429000"/>
            <a:ext cx="1901951" cy="38404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800" b="0" i="0">
                <a:solidFill>
                  <a:srgbClr val="F2F7FF"/>
                </a:solidFill>
                <a:latin typeface="Aptos"/>
              </a:rPr>
              <a:t>Status dashboard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0" y="1965960"/>
            <a:ext cx="2606040" cy="1965960"/>
          </a:xfrm>
          <a:prstGeom prst="roundRect">
            <a:avLst>
              <a:gd name="adj" fmla="val 12000"/>
            </a:avLst>
          </a:prstGeom>
          <a:solidFill>
            <a:srgbClr val="111F38"/>
          </a:solidFill>
          <a:ln>
            <a:solidFill>
              <a:srgbClr val="2E46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657600" y="1965960"/>
            <a:ext cx="64008" cy="1965960"/>
          </a:xfrm>
          <a:prstGeom prst="rect">
            <a:avLst/>
          </a:prstGeom>
          <a:solidFill>
            <a:srgbClr val="53DC9D"/>
          </a:solidFill>
          <a:ln>
            <a:solidFill>
              <a:srgbClr val="53DC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840480" y="2130552"/>
            <a:ext cx="2286000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1" i="0">
                <a:solidFill>
                  <a:srgbClr val="53DC9D"/>
                </a:solidFill>
                <a:latin typeface="Aptos"/>
              </a:rPr>
              <a:t>NODE + EXPRESS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2441448"/>
            <a:ext cx="2286000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1" i="0">
                <a:solidFill>
                  <a:srgbClr val="F2F7FF"/>
                </a:solidFill>
                <a:latin typeface="Aptos"/>
              </a:rPr>
              <a:t>API &amp; business logic</a:t>
            </a:r>
          </a:p>
        </p:txBody>
      </p:sp>
      <p:sp>
        <p:nvSpPr>
          <p:cNvPr id="20" name="Oval 19"/>
          <p:cNvSpPr/>
          <p:nvPr/>
        </p:nvSpPr>
        <p:spPr>
          <a:xfrm>
            <a:off x="3840480" y="2980944"/>
            <a:ext cx="82296" cy="82296"/>
          </a:xfrm>
          <a:prstGeom prst="ellipse">
            <a:avLst/>
          </a:prstGeom>
          <a:solidFill>
            <a:srgbClr val="53DC9D"/>
          </a:solidFill>
          <a:ln>
            <a:solidFill>
              <a:srgbClr val="53DC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041648" y="2862072"/>
            <a:ext cx="2084831" cy="38404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800" b="0" i="0">
                <a:solidFill>
                  <a:srgbClr val="F2F7FF"/>
                </a:solidFill>
                <a:latin typeface="Aptos"/>
              </a:rPr>
              <a:t>REST routing</a:t>
            </a:r>
          </a:p>
        </p:txBody>
      </p:sp>
      <p:sp>
        <p:nvSpPr>
          <p:cNvPr id="22" name="Oval 21"/>
          <p:cNvSpPr/>
          <p:nvPr/>
        </p:nvSpPr>
        <p:spPr>
          <a:xfrm>
            <a:off x="3840480" y="3264408"/>
            <a:ext cx="82296" cy="82296"/>
          </a:xfrm>
          <a:prstGeom prst="ellipse">
            <a:avLst/>
          </a:prstGeom>
          <a:solidFill>
            <a:srgbClr val="53DC9D"/>
          </a:solidFill>
          <a:ln>
            <a:solidFill>
              <a:srgbClr val="53DC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041648" y="3145536"/>
            <a:ext cx="2084831" cy="38404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800" b="0" i="0">
                <a:solidFill>
                  <a:srgbClr val="F2F7FF"/>
                </a:solidFill>
                <a:latin typeface="Aptos"/>
              </a:rPr>
              <a:t>Validation + auth</a:t>
            </a:r>
          </a:p>
        </p:txBody>
      </p:sp>
      <p:sp>
        <p:nvSpPr>
          <p:cNvPr id="24" name="Oval 23"/>
          <p:cNvSpPr/>
          <p:nvPr/>
        </p:nvSpPr>
        <p:spPr>
          <a:xfrm>
            <a:off x="3840480" y="3547872"/>
            <a:ext cx="82296" cy="82296"/>
          </a:xfrm>
          <a:prstGeom prst="ellipse">
            <a:avLst/>
          </a:prstGeom>
          <a:solidFill>
            <a:srgbClr val="53DC9D"/>
          </a:solidFill>
          <a:ln>
            <a:solidFill>
              <a:srgbClr val="53DC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041648" y="3429000"/>
            <a:ext cx="2084831" cy="38404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800" b="0" i="0">
                <a:solidFill>
                  <a:srgbClr val="F2F7FF"/>
                </a:solidFill>
                <a:latin typeface="Aptos"/>
              </a:rPr>
              <a:t>CRUD + upload handling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03720" y="1965960"/>
            <a:ext cx="2240280" cy="1965960"/>
          </a:xfrm>
          <a:prstGeom prst="roundRect">
            <a:avLst>
              <a:gd name="adj" fmla="val 12000"/>
            </a:avLst>
          </a:prstGeom>
          <a:solidFill>
            <a:srgbClr val="111F38"/>
          </a:solidFill>
          <a:ln>
            <a:solidFill>
              <a:srgbClr val="2E46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903720" y="1965960"/>
            <a:ext cx="64008" cy="1965960"/>
          </a:xfrm>
          <a:prstGeom prst="rect">
            <a:avLst/>
          </a:prstGeom>
          <a:solidFill>
            <a:srgbClr val="27DAE8"/>
          </a:solidFill>
          <a:ln>
            <a:solidFill>
              <a:srgbClr val="27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086600" y="2130552"/>
            <a:ext cx="1920240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1" i="0">
                <a:solidFill>
                  <a:srgbClr val="27DAE8"/>
                </a:solidFill>
                <a:latin typeface="Aptos"/>
              </a:rPr>
              <a:t>MONGODB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2441448"/>
            <a:ext cx="1920240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1" i="0">
                <a:solidFill>
                  <a:srgbClr val="F2F7FF"/>
                </a:solidFill>
                <a:latin typeface="Aptos"/>
              </a:rPr>
              <a:t>Document database</a:t>
            </a:r>
          </a:p>
        </p:txBody>
      </p:sp>
      <p:sp>
        <p:nvSpPr>
          <p:cNvPr id="30" name="Oval 29"/>
          <p:cNvSpPr/>
          <p:nvPr/>
        </p:nvSpPr>
        <p:spPr>
          <a:xfrm>
            <a:off x="7086600" y="2980944"/>
            <a:ext cx="82296" cy="82296"/>
          </a:xfrm>
          <a:prstGeom prst="ellipse">
            <a:avLst/>
          </a:prstGeom>
          <a:solidFill>
            <a:srgbClr val="27DAE8"/>
          </a:solidFill>
          <a:ln>
            <a:solidFill>
              <a:srgbClr val="27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287768" y="2862072"/>
            <a:ext cx="1719072" cy="38404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800" b="0" i="0">
                <a:solidFill>
                  <a:srgbClr val="F2F7FF"/>
                </a:solidFill>
                <a:latin typeface="Aptos"/>
              </a:rPr>
              <a:t>Users</a:t>
            </a:r>
          </a:p>
        </p:txBody>
      </p:sp>
      <p:sp>
        <p:nvSpPr>
          <p:cNvPr id="32" name="Oval 31"/>
          <p:cNvSpPr/>
          <p:nvPr/>
        </p:nvSpPr>
        <p:spPr>
          <a:xfrm>
            <a:off x="7086600" y="3264408"/>
            <a:ext cx="82296" cy="82296"/>
          </a:xfrm>
          <a:prstGeom prst="ellipse">
            <a:avLst/>
          </a:prstGeom>
          <a:solidFill>
            <a:srgbClr val="27DAE8"/>
          </a:solidFill>
          <a:ln>
            <a:solidFill>
              <a:srgbClr val="27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287768" y="3145536"/>
            <a:ext cx="1719072" cy="38404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800" b="0" i="0">
                <a:solidFill>
                  <a:srgbClr val="F2F7FF"/>
                </a:solidFill>
                <a:latin typeface="Aptos"/>
              </a:rPr>
              <a:t>Issues</a:t>
            </a:r>
          </a:p>
        </p:txBody>
      </p:sp>
      <p:sp>
        <p:nvSpPr>
          <p:cNvPr id="34" name="Oval 33"/>
          <p:cNvSpPr/>
          <p:nvPr/>
        </p:nvSpPr>
        <p:spPr>
          <a:xfrm>
            <a:off x="7086600" y="3547872"/>
            <a:ext cx="82296" cy="82296"/>
          </a:xfrm>
          <a:prstGeom prst="ellipse">
            <a:avLst/>
          </a:prstGeom>
          <a:solidFill>
            <a:srgbClr val="27DAE8"/>
          </a:solidFill>
          <a:ln>
            <a:solidFill>
              <a:srgbClr val="27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287768" y="3429000"/>
            <a:ext cx="1719072" cy="38404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800" b="0" i="0">
                <a:solidFill>
                  <a:srgbClr val="F2F7FF"/>
                </a:solidFill>
                <a:latin typeface="Aptos"/>
              </a:rPr>
              <a:t>Categories + metadata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646920" y="1965960"/>
            <a:ext cx="1920240" cy="1965960"/>
          </a:xfrm>
          <a:prstGeom prst="roundRect">
            <a:avLst>
              <a:gd name="adj" fmla="val 12000"/>
            </a:avLst>
          </a:prstGeom>
          <a:solidFill>
            <a:srgbClr val="111F38"/>
          </a:solidFill>
          <a:ln>
            <a:solidFill>
              <a:srgbClr val="2E46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9646920" y="1965960"/>
            <a:ext cx="64008" cy="1965960"/>
          </a:xfrm>
          <a:prstGeom prst="rect">
            <a:avLst/>
          </a:prstGeom>
          <a:solidFill>
            <a:srgbClr val="FFB85C"/>
          </a:solidFill>
          <a:ln>
            <a:solidFill>
              <a:srgbClr val="FFB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829800" y="2130552"/>
            <a:ext cx="1600200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1" i="0">
                <a:solidFill>
                  <a:srgbClr val="FFB85C"/>
                </a:solidFill>
                <a:latin typeface="Aptos"/>
              </a:rPr>
              <a:t>IMAGE STORE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29800" y="2441448"/>
            <a:ext cx="1600200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1" i="0">
                <a:solidFill>
                  <a:srgbClr val="F2F7FF"/>
                </a:solidFill>
                <a:latin typeface="Aptos"/>
              </a:rPr>
              <a:t>Media service</a:t>
            </a:r>
          </a:p>
        </p:txBody>
      </p:sp>
      <p:sp>
        <p:nvSpPr>
          <p:cNvPr id="40" name="Oval 39"/>
          <p:cNvSpPr/>
          <p:nvPr/>
        </p:nvSpPr>
        <p:spPr>
          <a:xfrm>
            <a:off x="9829800" y="2980944"/>
            <a:ext cx="82296" cy="82296"/>
          </a:xfrm>
          <a:prstGeom prst="ellipse">
            <a:avLst/>
          </a:prstGeom>
          <a:solidFill>
            <a:srgbClr val="FFB85C"/>
          </a:solidFill>
          <a:ln>
            <a:solidFill>
              <a:srgbClr val="FFB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030968" y="2862072"/>
            <a:ext cx="1399032" cy="38404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800" b="0" i="0">
                <a:solidFill>
                  <a:srgbClr val="F2F7FF"/>
                </a:solidFill>
                <a:latin typeface="Aptos"/>
              </a:rPr>
              <a:t>Image files</a:t>
            </a:r>
          </a:p>
        </p:txBody>
      </p:sp>
      <p:sp>
        <p:nvSpPr>
          <p:cNvPr id="42" name="Oval 41"/>
          <p:cNvSpPr/>
          <p:nvPr/>
        </p:nvSpPr>
        <p:spPr>
          <a:xfrm>
            <a:off x="9829800" y="3264408"/>
            <a:ext cx="82296" cy="82296"/>
          </a:xfrm>
          <a:prstGeom prst="ellipse">
            <a:avLst/>
          </a:prstGeom>
          <a:solidFill>
            <a:srgbClr val="FFB85C"/>
          </a:solidFill>
          <a:ln>
            <a:solidFill>
              <a:srgbClr val="FFB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0030968" y="3145536"/>
            <a:ext cx="1399032" cy="38404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800" b="0" i="0">
                <a:solidFill>
                  <a:srgbClr val="F2F7FF"/>
                </a:solidFill>
                <a:latin typeface="Aptos"/>
              </a:rPr>
              <a:t>Secure URLs</a:t>
            </a:r>
          </a:p>
        </p:txBody>
      </p:sp>
      <p:sp>
        <p:nvSpPr>
          <p:cNvPr id="44" name="Oval 43"/>
          <p:cNvSpPr/>
          <p:nvPr/>
        </p:nvSpPr>
        <p:spPr>
          <a:xfrm>
            <a:off x="9829800" y="3547872"/>
            <a:ext cx="82296" cy="82296"/>
          </a:xfrm>
          <a:prstGeom prst="ellipse">
            <a:avLst/>
          </a:prstGeom>
          <a:solidFill>
            <a:srgbClr val="FFB85C"/>
          </a:solidFill>
          <a:ln>
            <a:solidFill>
              <a:srgbClr val="FFB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0030968" y="3429000"/>
            <a:ext cx="1399032" cy="38404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800" b="0" i="0">
                <a:solidFill>
                  <a:srgbClr val="F2F7FF"/>
                </a:solidFill>
                <a:latin typeface="Aptos"/>
              </a:rPr>
              <a:t>Metadata in DB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3063240" y="2852928"/>
            <a:ext cx="594360" cy="0"/>
          </a:xfrm>
          <a:prstGeom prst="line">
            <a:avLst/>
          </a:prstGeom>
          <a:ln w="25400">
            <a:solidFill>
              <a:srgbClr val="27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2980944" y="2496312"/>
            <a:ext cx="822960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600" b="1" i="0">
                <a:solidFill>
                  <a:srgbClr val="9DB1CA"/>
                </a:solidFill>
                <a:latin typeface="Aptos"/>
              </a:rPr>
              <a:t>HTTPS / JSON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6263640" y="2852928"/>
            <a:ext cx="640080" cy="0"/>
          </a:xfrm>
          <a:prstGeom prst="line">
            <a:avLst/>
          </a:prstGeom>
          <a:ln w="25400">
            <a:solidFill>
              <a:srgbClr val="53DC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6291072" y="2496312"/>
            <a:ext cx="594360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600" b="1" i="0">
                <a:solidFill>
                  <a:srgbClr val="9DB1CA"/>
                </a:solidFill>
                <a:latin typeface="Aptos"/>
              </a:rPr>
              <a:t>DB ops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5669280" y="3931920"/>
            <a:ext cx="4343400" cy="411480"/>
          </a:xfrm>
          <a:prstGeom prst="line">
            <a:avLst/>
          </a:prstGeom>
          <a:ln w="19050">
            <a:solidFill>
              <a:srgbClr val="FFB8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6812280" y="4087368"/>
            <a:ext cx="2011680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700" b="1" i="0">
                <a:solidFill>
                  <a:srgbClr val="FFB85C"/>
                </a:solidFill>
                <a:latin typeface="Aptos"/>
              </a:rPr>
              <a:t>Upload / image URL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5800" y="4617720"/>
            <a:ext cx="1828800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1" i="0">
                <a:solidFill>
                  <a:srgbClr val="27DAE8"/>
                </a:solidFill>
                <a:latin typeface="Aptos"/>
              </a:rPr>
              <a:t>WHY THIS STACK?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58368" y="4956048"/>
            <a:ext cx="2578608" cy="804672"/>
          </a:xfrm>
          <a:prstGeom prst="roundRect">
            <a:avLst>
              <a:gd name="adj" fmla="val 12000"/>
            </a:avLst>
          </a:prstGeom>
          <a:solidFill>
            <a:srgbClr val="0F1D32"/>
          </a:solidFill>
          <a:ln>
            <a:solidFill>
              <a:srgbClr val="0F1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86384" y="5047488"/>
            <a:ext cx="914400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F2F7FF"/>
                </a:solidFill>
                <a:latin typeface="Aptos"/>
              </a:rPr>
              <a:t>React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86384" y="5330952"/>
            <a:ext cx="2331720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800" b="0" i="0">
                <a:solidFill>
                  <a:srgbClr val="9DB1CA"/>
                </a:solidFill>
                <a:latin typeface="Aptos"/>
              </a:rPr>
              <a:t>Reusable components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511296" y="4956048"/>
            <a:ext cx="2578608" cy="804672"/>
          </a:xfrm>
          <a:prstGeom prst="roundRect">
            <a:avLst>
              <a:gd name="adj" fmla="val 12000"/>
            </a:avLst>
          </a:prstGeom>
          <a:solidFill>
            <a:srgbClr val="0F1D32"/>
          </a:solidFill>
          <a:ln>
            <a:solidFill>
              <a:srgbClr val="0F1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3639312" y="5047488"/>
            <a:ext cx="914400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F2F7FF"/>
                </a:solidFill>
                <a:latin typeface="Aptos"/>
              </a:rPr>
              <a:t>Express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39312" y="5330952"/>
            <a:ext cx="2331720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800" b="0" i="0">
                <a:solidFill>
                  <a:srgbClr val="9DB1CA"/>
                </a:solidFill>
                <a:latin typeface="Aptos"/>
              </a:rPr>
              <a:t>Simple REST endpoints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364224" y="4956048"/>
            <a:ext cx="2578608" cy="804672"/>
          </a:xfrm>
          <a:prstGeom prst="roundRect">
            <a:avLst>
              <a:gd name="adj" fmla="val 12000"/>
            </a:avLst>
          </a:prstGeom>
          <a:solidFill>
            <a:srgbClr val="0F1D32"/>
          </a:solidFill>
          <a:ln>
            <a:solidFill>
              <a:srgbClr val="0F1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492240" y="5047488"/>
            <a:ext cx="914400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F2F7FF"/>
                </a:solidFill>
                <a:latin typeface="Aptos"/>
              </a:rPr>
              <a:t>Node.js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92240" y="5330952"/>
            <a:ext cx="2331720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800" b="0" i="0">
                <a:solidFill>
                  <a:srgbClr val="9DB1CA"/>
                </a:solidFill>
                <a:latin typeface="Aptos"/>
              </a:rPr>
              <a:t>JavaScript runtime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217152" y="4956048"/>
            <a:ext cx="2578608" cy="804672"/>
          </a:xfrm>
          <a:prstGeom prst="roundRect">
            <a:avLst>
              <a:gd name="adj" fmla="val 12000"/>
            </a:avLst>
          </a:prstGeom>
          <a:solidFill>
            <a:srgbClr val="0F1D32"/>
          </a:solidFill>
          <a:ln>
            <a:solidFill>
              <a:srgbClr val="0F1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9345168" y="5047488"/>
            <a:ext cx="914400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F2F7FF"/>
                </a:solidFill>
                <a:latin typeface="Aptos"/>
              </a:rPr>
              <a:t>MongoDB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345168" y="5330952"/>
            <a:ext cx="2331720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800" b="0" i="0">
                <a:solidFill>
                  <a:srgbClr val="9DB1CA"/>
                </a:solidFill>
                <a:latin typeface="Aptos"/>
              </a:rPr>
              <a:t>Flexible issue records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94944" y="5961888"/>
            <a:ext cx="10515600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800" b="0" i="1">
                <a:solidFill>
                  <a:srgbClr val="9DB1CA"/>
                </a:solidFill>
                <a:latin typeface="Aptos"/>
              </a:rPr>
              <a:t>Design note: store image URLs and metadata in MongoDB; keep binary files in a dedicated storage service.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566928" y="6510528"/>
            <a:ext cx="11064240" cy="0"/>
          </a:xfrm>
          <a:prstGeom prst="line">
            <a:avLst/>
          </a:prstGeom>
          <a:ln w="8890">
            <a:solidFill>
              <a:srgbClr val="2E46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594360" y="6537960"/>
            <a:ext cx="5029200" cy="16459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700" b="1" i="0">
                <a:solidFill>
                  <a:srgbClr val="9DB1CA"/>
                </a:solidFill>
                <a:latin typeface="Aptos"/>
              </a:rPr>
              <a:t>CITY ISSUE REPORTING DASHBOARD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607040" y="6537960"/>
            <a:ext cx="1005840" cy="16459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700" b="1" i="0">
                <a:solidFill>
                  <a:srgbClr val="9DB1CA"/>
                </a:solidFill>
                <a:latin typeface="Aptos"/>
              </a:rPr>
              <a:t>MERN • CIVIC TECH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8046720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1" i="0">
                <a:solidFill>
                  <a:srgbClr val="27DAE8"/>
                </a:solidFill>
                <a:latin typeface="Aptos"/>
              </a:rPr>
              <a:t>04 / DATA + APIS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03504"/>
            <a:ext cx="10972800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2700" b="1" i="0">
                <a:solidFill>
                  <a:srgbClr val="F2F7FF"/>
                </a:solidFill>
                <a:latin typeface="Aptos"/>
              </a:rPr>
              <a:t>A small, extensible issue model powers the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15568"/>
            <a:ext cx="10698480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0" i="0">
                <a:solidFill>
                  <a:srgbClr val="9DB1CA"/>
                </a:solidFill>
                <a:latin typeface="Aptos"/>
              </a:rPr>
              <a:t>Use consistent identifiers, timestamps and explicit authorization on every write operation.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20040"/>
            <a:ext cx="502920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900" b="1" i="0">
                <a:solidFill>
                  <a:srgbClr val="9DB1CA"/>
                </a:solidFill>
                <a:latin typeface="Aptos"/>
              </a:rPr>
              <a:t>05 / 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719072"/>
            <a:ext cx="3886200" cy="4526280"/>
          </a:xfrm>
          <a:prstGeom prst="roundRect">
            <a:avLst>
              <a:gd name="adj" fmla="val 12000"/>
            </a:avLst>
          </a:prstGeom>
          <a:solidFill>
            <a:srgbClr val="111F38"/>
          </a:solidFill>
          <a:ln>
            <a:solidFill>
              <a:srgbClr val="111F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1920240"/>
            <a:ext cx="3200400" cy="3200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500" b="1" i="0">
                <a:solidFill>
                  <a:srgbClr val="F2F7FF"/>
                </a:solidFill>
                <a:latin typeface="Aptos"/>
              </a:rPr>
              <a:t>Issue document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" y="2304288"/>
            <a:ext cx="1143000" cy="256032"/>
          </a:xfrm>
          <a:prstGeom prst="roundRect">
            <a:avLst>
              <a:gd name="adj" fmla="val 12000"/>
            </a:avLst>
          </a:prstGeom>
          <a:solidFill>
            <a:srgbClr val="12312F"/>
          </a:solidFill>
          <a:ln>
            <a:solidFill>
              <a:srgbClr val="1231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2313432"/>
            <a:ext cx="1069848" cy="2194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800" b="1" i="0">
                <a:solidFill>
                  <a:srgbClr val="53DC9D"/>
                </a:solidFill>
                <a:latin typeface="Aptos"/>
              </a:rPr>
              <a:t>MONGODB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24912"/>
            <a:ext cx="1463040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1" i="0">
                <a:solidFill>
                  <a:srgbClr val="27DAE8"/>
                </a:solidFill>
                <a:latin typeface="Aptos"/>
              </a:rPr>
              <a:t>_id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2724912"/>
            <a:ext cx="1554480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800" b="0" i="0">
                <a:solidFill>
                  <a:srgbClr val="9DB1CA"/>
                </a:solidFill>
                <a:latin typeface="Aptos"/>
              </a:rPr>
              <a:t>ObjectId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96112" y="2990088"/>
            <a:ext cx="3264408" cy="0"/>
          </a:xfrm>
          <a:prstGeom prst="line">
            <a:avLst/>
          </a:prstGeom>
          <a:ln w="5715">
            <a:solidFill>
              <a:srgbClr val="2E46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14400" y="3026664"/>
            <a:ext cx="1463040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1" i="0">
                <a:solidFill>
                  <a:srgbClr val="F2F7FF"/>
                </a:solidFill>
                <a:latin typeface="Aptos"/>
              </a:rPr>
              <a:t>title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3026664"/>
            <a:ext cx="1554480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800" b="0" i="0">
                <a:solidFill>
                  <a:srgbClr val="9DB1CA"/>
                </a:solidFill>
                <a:latin typeface="Aptos"/>
              </a:rPr>
              <a:t>String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96112" y="3291840"/>
            <a:ext cx="3264408" cy="0"/>
          </a:xfrm>
          <a:prstGeom prst="line">
            <a:avLst/>
          </a:prstGeom>
          <a:ln w="5715">
            <a:solidFill>
              <a:srgbClr val="2E46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14400" y="3328416"/>
            <a:ext cx="1463040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1" i="0">
                <a:solidFill>
                  <a:srgbClr val="F2F7FF"/>
                </a:solidFill>
                <a:latin typeface="Aptos"/>
              </a:rPr>
              <a:t>description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14600" y="3328416"/>
            <a:ext cx="1554480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800" b="0" i="0">
                <a:solidFill>
                  <a:srgbClr val="9DB1CA"/>
                </a:solidFill>
                <a:latin typeface="Aptos"/>
              </a:rPr>
              <a:t>String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96112" y="3593592"/>
            <a:ext cx="3264408" cy="0"/>
          </a:xfrm>
          <a:prstGeom prst="line">
            <a:avLst/>
          </a:prstGeom>
          <a:ln w="5715">
            <a:solidFill>
              <a:srgbClr val="2E46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14400" y="3630168"/>
            <a:ext cx="1463040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1" i="0">
                <a:solidFill>
                  <a:srgbClr val="F2F7FF"/>
                </a:solidFill>
                <a:latin typeface="Aptos"/>
              </a:rPr>
              <a:t>category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14600" y="3630168"/>
            <a:ext cx="1554480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800" b="0" i="0">
                <a:solidFill>
                  <a:srgbClr val="9DB1CA"/>
                </a:solidFill>
                <a:latin typeface="Aptos"/>
              </a:rPr>
              <a:t>String / ref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96112" y="3895344"/>
            <a:ext cx="3264408" cy="0"/>
          </a:xfrm>
          <a:prstGeom prst="line">
            <a:avLst/>
          </a:prstGeom>
          <a:ln w="5715">
            <a:solidFill>
              <a:srgbClr val="2E46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914400" y="3931920"/>
            <a:ext cx="1463040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1" i="0">
                <a:solidFill>
                  <a:srgbClr val="F2F7FF"/>
                </a:solidFill>
                <a:latin typeface="Aptos"/>
              </a:rPr>
              <a:t>location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4600" y="3931920"/>
            <a:ext cx="1554480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800" b="0" i="0">
                <a:solidFill>
                  <a:srgbClr val="9DB1CA"/>
                </a:solidFill>
                <a:latin typeface="Aptos"/>
              </a:rPr>
              <a:t>Object / text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96112" y="4197096"/>
            <a:ext cx="3264408" cy="0"/>
          </a:xfrm>
          <a:prstGeom prst="line">
            <a:avLst/>
          </a:prstGeom>
          <a:ln w="5715">
            <a:solidFill>
              <a:srgbClr val="2E46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14400" y="4233672"/>
            <a:ext cx="1463040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1" i="0">
                <a:solidFill>
                  <a:srgbClr val="F2F7FF"/>
                </a:solidFill>
                <a:latin typeface="Aptos"/>
              </a:rPr>
              <a:t>imageUrl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14600" y="4233672"/>
            <a:ext cx="1554480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800" b="0" i="0">
                <a:solidFill>
                  <a:srgbClr val="9DB1CA"/>
                </a:solidFill>
                <a:latin typeface="Aptos"/>
              </a:rPr>
              <a:t>URL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96112" y="4498848"/>
            <a:ext cx="3264408" cy="0"/>
          </a:xfrm>
          <a:prstGeom prst="line">
            <a:avLst/>
          </a:prstGeom>
          <a:ln w="5715">
            <a:solidFill>
              <a:srgbClr val="2E46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914400" y="4535424"/>
            <a:ext cx="1463040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1" i="0">
                <a:solidFill>
                  <a:srgbClr val="27DAE8"/>
                </a:solidFill>
                <a:latin typeface="Aptos"/>
              </a:rPr>
              <a:t>status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14600" y="4535424"/>
            <a:ext cx="1554480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800" b="0" i="0">
                <a:solidFill>
                  <a:srgbClr val="9DB1CA"/>
                </a:solidFill>
                <a:latin typeface="Aptos"/>
              </a:rPr>
              <a:t>Enum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96112" y="4800600"/>
            <a:ext cx="3264408" cy="0"/>
          </a:xfrm>
          <a:prstGeom prst="line">
            <a:avLst/>
          </a:prstGeom>
          <a:ln w="5715">
            <a:solidFill>
              <a:srgbClr val="2E46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914400" y="4837176"/>
            <a:ext cx="1463040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1" i="0">
                <a:solidFill>
                  <a:srgbClr val="F2F7FF"/>
                </a:solidFill>
                <a:latin typeface="Aptos"/>
              </a:rPr>
              <a:t>reportedBy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14600" y="4837176"/>
            <a:ext cx="1554480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800" b="0" i="0">
                <a:solidFill>
                  <a:srgbClr val="9DB1CA"/>
                </a:solidFill>
                <a:latin typeface="Aptos"/>
              </a:rPr>
              <a:t>User ref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96112" y="5102352"/>
            <a:ext cx="3264408" cy="0"/>
          </a:xfrm>
          <a:prstGeom prst="line">
            <a:avLst/>
          </a:prstGeom>
          <a:ln w="5715">
            <a:solidFill>
              <a:srgbClr val="2E46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914400" y="5138928"/>
            <a:ext cx="1463040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1" i="0">
                <a:solidFill>
                  <a:srgbClr val="F2F7FF"/>
                </a:solidFill>
                <a:latin typeface="Aptos"/>
              </a:rPr>
              <a:t>createdAt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14600" y="5138928"/>
            <a:ext cx="1554480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800" b="0" i="0">
                <a:solidFill>
                  <a:srgbClr val="9DB1CA"/>
                </a:solidFill>
                <a:latin typeface="Aptos"/>
              </a:rPr>
              <a:t>Date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96112" y="5404104"/>
            <a:ext cx="3264408" cy="0"/>
          </a:xfrm>
          <a:prstGeom prst="line">
            <a:avLst/>
          </a:prstGeom>
          <a:ln w="5715">
            <a:solidFill>
              <a:srgbClr val="2E46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914400" y="5440680"/>
            <a:ext cx="1463040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1" i="0">
                <a:solidFill>
                  <a:srgbClr val="F2F7FF"/>
                </a:solidFill>
                <a:latin typeface="Aptos"/>
              </a:rPr>
              <a:t>updatedAt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14600" y="5440680"/>
            <a:ext cx="1554480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800" b="0" i="0">
                <a:solidFill>
                  <a:srgbClr val="9DB1CA"/>
                </a:solidFill>
                <a:latin typeface="Aptos"/>
              </a:rPr>
              <a:t>Date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736592" y="1719072"/>
            <a:ext cx="6839712" cy="4526280"/>
          </a:xfrm>
          <a:prstGeom prst="roundRect">
            <a:avLst>
              <a:gd name="adj" fmla="val 12000"/>
            </a:avLst>
          </a:prstGeom>
          <a:solidFill>
            <a:srgbClr val="111F38"/>
          </a:solidFill>
          <a:ln>
            <a:solidFill>
              <a:srgbClr val="111F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029200" y="1920240"/>
            <a:ext cx="2743200" cy="3200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500" b="1" i="0">
                <a:solidFill>
                  <a:srgbClr val="F2F7FF"/>
                </a:solidFill>
                <a:latin typeface="Aptos"/>
              </a:rPr>
              <a:t>REST API surface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646920" y="1938528"/>
            <a:ext cx="1417320" cy="256032"/>
          </a:xfrm>
          <a:prstGeom prst="roundRect">
            <a:avLst>
              <a:gd name="adj" fmla="val 12000"/>
            </a:avLst>
          </a:prstGeom>
          <a:solidFill>
            <a:srgbClr val="123644"/>
          </a:solidFill>
          <a:ln>
            <a:solidFill>
              <a:srgbClr val="123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683496" y="1947672"/>
            <a:ext cx="1344168" cy="2194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800" b="1" i="0">
                <a:solidFill>
                  <a:srgbClr val="27DAE8"/>
                </a:solidFill>
                <a:latin typeface="Aptos"/>
              </a:rPr>
              <a:t>CRUD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029200" y="2487168"/>
            <a:ext cx="749808" cy="256032"/>
          </a:xfrm>
          <a:prstGeom prst="roundRect">
            <a:avLst>
              <a:gd name="adj" fmla="val 12000"/>
            </a:avLst>
          </a:prstGeom>
          <a:solidFill>
            <a:srgbClr val="1B2B3C"/>
          </a:solidFill>
          <a:ln>
            <a:solidFill>
              <a:srgbClr val="1B2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065776" y="2496312"/>
            <a:ext cx="676656" cy="2194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700" b="1" i="0">
                <a:solidFill>
                  <a:srgbClr val="53DC9D"/>
                </a:solidFill>
                <a:latin typeface="Aptos"/>
              </a:rPr>
              <a:t>POST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3600" y="2478024"/>
            <a:ext cx="233172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1" i="0">
                <a:solidFill>
                  <a:srgbClr val="F2F7FF"/>
                </a:solidFill>
                <a:latin typeface="Aptos"/>
              </a:rPr>
              <a:t>/api/issues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21040" y="2478024"/>
            <a:ext cx="283464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800" b="0" i="0">
                <a:solidFill>
                  <a:srgbClr val="9DB1CA"/>
                </a:solidFill>
                <a:latin typeface="Aptos"/>
              </a:rPr>
              <a:t>Create issue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5029200" y="2834640"/>
            <a:ext cx="6217920" cy="0"/>
          </a:xfrm>
          <a:prstGeom prst="line">
            <a:avLst/>
          </a:prstGeom>
          <a:ln w="6985">
            <a:solidFill>
              <a:srgbClr val="2E46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5029200" y="2990088"/>
            <a:ext cx="749808" cy="256032"/>
          </a:xfrm>
          <a:prstGeom prst="roundRect">
            <a:avLst>
              <a:gd name="adj" fmla="val 12000"/>
            </a:avLst>
          </a:prstGeom>
          <a:solidFill>
            <a:srgbClr val="1B2B3C"/>
          </a:solidFill>
          <a:ln>
            <a:solidFill>
              <a:srgbClr val="1B2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065776" y="2999232"/>
            <a:ext cx="676656" cy="2194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700" b="1" i="0">
                <a:solidFill>
                  <a:srgbClr val="27DAE8"/>
                </a:solidFill>
                <a:latin typeface="Aptos"/>
              </a:rPr>
              <a:t>GET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43600" y="2980944"/>
            <a:ext cx="233172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1" i="0">
                <a:solidFill>
                  <a:srgbClr val="F2F7FF"/>
                </a:solidFill>
                <a:latin typeface="Aptos"/>
              </a:rPr>
              <a:t>/api/issues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21040" y="2980944"/>
            <a:ext cx="283464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800" b="0" i="0">
                <a:solidFill>
                  <a:srgbClr val="9DB1CA"/>
                </a:solidFill>
                <a:latin typeface="Aptos"/>
              </a:rPr>
              <a:t>List / filter issues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5029200" y="3337560"/>
            <a:ext cx="6217920" cy="0"/>
          </a:xfrm>
          <a:prstGeom prst="line">
            <a:avLst/>
          </a:prstGeom>
          <a:ln w="6985">
            <a:solidFill>
              <a:srgbClr val="2E46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ounded Rectangle 52"/>
          <p:cNvSpPr/>
          <p:nvPr/>
        </p:nvSpPr>
        <p:spPr>
          <a:xfrm>
            <a:off x="5029200" y="3493008"/>
            <a:ext cx="749808" cy="256032"/>
          </a:xfrm>
          <a:prstGeom prst="roundRect">
            <a:avLst>
              <a:gd name="adj" fmla="val 12000"/>
            </a:avLst>
          </a:prstGeom>
          <a:solidFill>
            <a:srgbClr val="1B2B3C"/>
          </a:solidFill>
          <a:ln>
            <a:solidFill>
              <a:srgbClr val="1B2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065776" y="3502152"/>
            <a:ext cx="676656" cy="2194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700" b="1" i="0">
                <a:solidFill>
                  <a:srgbClr val="27DAE8"/>
                </a:solidFill>
                <a:latin typeface="Aptos"/>
              </a:rPr>
              <a:t>GET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943600" y="3483864"/>
            <a:ext cx="233172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1" i="0">
                <a:solidFill>
                  <a:srgbClr val="F2F7FF"/>
                </a:solidFill>
                <a:latin typeface="Aptos"/>
              </a:rPr>
              <a:t>/api/issues/:id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21040" y="3483864"/>
            <a:ext cx="283464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800" b="0" i="0">
                <a:solidFill>
                  <a:srgbClr val="9DB1CA"/>
                </a:solidFill>
                <a:latin typeface="Aptos"/>
              </a:rPr>
              <a:t>Read one issue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5029200" y="3840480"/>
            <a:ext cx="6217920" cy="0"/>
          </a:xfrm>
          <a:prstGeom prst="line">
            <a:avLst/>
          </a:prstGeom>
          <a:ln w="6985">
            <a:solidFill>
              <a:srgbClr val="2E46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ounded Rectangle 57"/>
          <p:cNvSpPr/>
          <p:nvPr/>
        </p:nvSpPr>
        <p:spPr>
          <a:xfrm>
            <a:off x="5029200" y="3995928"/>
            <a:ext cx="749808" cy="256032"/>
          </a:xfrm>
          <a:prstGeom prst="roundRect">
            <a:avLst>
              <a:gd name="adj" fmla="val 12000"/>
            </a:avLst>
          </a:prstGeom>
          <a:solidFill>
            <a:srgbClr val="1B2B3C"/>
          </a:solidFill>
          <a:ln>
            <a:solidFill>
              <a:srgbClr val="1B2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5065776" y="4005072"/>
            <a:ext cx="676656" cy="2194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700" b="1" i="0">
                <a:solidFill>
                  <a:srgbClr val="FFB85C"/>
                </a:solidFill>
                <a:latin typeface="Aptos"/>
              </a:rPr>
              <a:t>PUT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943600" y="3986784"/>
            <a:ext cx="233172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1" i="0">
                <a:solidFill>
                  <a:srgbClr val="F2F7FF"/>
                </a:solidFill>
                <a:latin typeface="Aptos"/>
              </a:rPr>
              <a:t>/api/issues/:id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321040" y="3986784"/>
            <a:ext cx="283464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800" b="0" i="0">
                <a:solidFill>
                  <a:srgbClr val="9DB1CA"/>
                </a:solidFill>
                <a:latin typeface="Aptos"/>
              </a:rPr>
              <a:t>Update issue status/details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5029200" y="4343400"/>
            <a:ext cx="6217920" cy="0"/>
          </a:xfrm>
          <a:prstGeom prst="line">
            <a:avLst/>
          </a:prstGeom>
          <a:ln w="6985">
            <a:solidFill>
              <a:srgbClr val="2E46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ounded Rectangle 62"/>
          <p:cNvSpPr/>
          <p:nvPr/>
        </p:nvSpPr>
        <p:spPr>
          <a:xfrm>
            <a:off x="5029200" y="4498848"/>
            <a:ext cx="749808" cy="256032"/>
          </a:xfrm>
          <a:prstGeom prst="roundRect">
            <a:avLst>
              <a:gd name="adj" fmla="val 12000"/>
            </a:avLst>
          </a:prstGeom>
          <a:solidFill>
            <a:srgbClr val="1B2B3C"/>
          </a:solidFill>
          <a:ln>
            <a:solidFill>
              <a:srgbClr val="1B2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065776" y="4507992"/>
            <a:ext cx="676656" cy="2194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700" b="1" i="0">
                <a:solidFill>
                  <a:srgbClr val="FF6C7A"/>
                </a:solidFill>
                <a:latin typeface="Aptos"/>
              </a:rPr>
              <a:t>DELETE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943600" y="4489704"/>
            <a:ext cx="233172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1" i="0">
                <a:solidFill>
                  <a:srgbClr val="F2F7FF"/>
                </a:solidFill>
                <a:latin typeface="Aptos"/>
              </a:rPr>
              <a:t>/api/issues/:id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321040" y="4489704"/>
            <a:ext cx="283464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800" b="0" i="0">
                <a:solidFill>
                  <a:srgbClr val="9DB1CA"/>
                </a:solidFill>
                <a:latin typeface="Aptos"/>
              </a:rPr>
              <a:t>Delete when authorized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5029200" y="4846320"/>
            <a:ext cx="6217920" cy="0"/>
          </a:xfrm>
          <a:prstGeom prst="line">
            <a:avLst/>
          </a:prstGeom>
          <a:ln w="6985">
            <a:solidFill>
              <a:srgbClr val="2E46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ounded Rectangle 67"/>
          <p:cNvSpPr/>
          <p:nvPr/>
        </p:nvSpPr>
        <p:spPr>
          <a:xfrm>
            <a:off x="5029200" y="5230368"/>
            <a:ext cx="6217920" cy="658368"/>
          </a:xfrm>
          <a:prstGeom prst="roundRect">
            <a:avLst>
              <a:gd name="adj" fmla="val 12000"/>
            </a:avLst>
          </a:prstGeom>
          <a:solidFill>
            <a:srgbClr val="142B3E"/>
          </a:solidFill>
          <a:ln>
            <a:solidFill>
              <a:srgbClr val="142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5230368" y="5321808"/>
            <a:ext cx="1143000" cy="2194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1" i="0">
                <a:solidFill>
                  <a:srgbClr val="53DC9D"/>
                </a:solidFill>
                <a:latin typeface="Aptos"/>
              </a:rPr>
              <a:t>AUTH*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217920" y="5312664"/>
            <a:ext cx="4800600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800" b="1" i="0">
                <a:solidFill>
                  <a:srgbClr val="F2F7FF"/>
                </a:solidFill>
                <a:latin typeface="Aptos"/>
              </a:rPr>
              <a:t>POST /api/auth/register  •  POST /api/auth/login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230368" y="5605272"/>
            <a:ext cx="5577840" cy="1828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700" b="0" i="1">
                <a:solidFill>
                  <a:srgbClr val="FFB85C"/>
                </a:solidFill>
                <a:latin typeface="Aptos"/>
              </a:rPr>
              <a:t>Illustrative endpoint plan — confirm paths against actual implementation.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96112" y="5961888"/>
            <a:ext cx="3474720" cy="18288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700" b="0" i="1">
                <a:solidFill>
                  <a:srgbClr val="FFB85C"/>
                </a:solidFill>
                <a:latin typeface="Aptos"/>
              </a:rPr>
              <a:t>*Include auth endpoints only if implemented.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566928" y="6510528"/>
            <a:ext cx="11064240" cy="0"/>
          </a:xfrm>
          <a:prstGeom prst="line">
            <a:avLst/>
          </a:prstGeom>
          <a:ln w="8890">
            <a:solidFill>
              <a:srgbClr val="2E46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594360" y="6537960"/>
            <a:ext cx="5029200" cy="16459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700" b="1" i="0">
                <a:solidFill>
                  <a:srgbClr val="9DB1CA"/>
                </a:solidFill>
                <a:latin typeface="Aptos"/>
              </a:rPr>
              <a:t>CITY ISSUE REPORTING DASHBOARD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607040" y="6537960"/>
            <a:ext cx="1005840" cy="16459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700" b="1" i="0">
                <a:solidFill>
                  <a:srgbClr val="9DB1CA"/>
                </a:solidFill>
                <a:latin typeface="Aptos"/>
              </a:rPr>
              <a:t>MERN • CIVIC TECH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92608"/>
            <a:ext cx="8046720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1" i="0">
                <a:solidFill>
                  <a:srgbClr val="27DAE8"/>
                </a:solidFill>
                <a:latin typeface="Aptos"/>
              </a:rPr>
              <a:t>05 / WORKFLOW + TRUST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03504"/>
            <a:ext cx="10972800" cy="5029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2700" b="1" i="0">
                <a:solidFill>
                  <a:srgbClr val="F2F7FF"/>
                </a:solidFill>
                <a:latin typeface="Aptos"/>
              </a:rPr>
              <a:t>From a street-level problem to a trackable record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15568"/>
            <a:ext cx="10698480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0" i="0">
                <a:solidFill>
                  <a:srgbClr val="9DB1CA"/>
                </a:solidFill>
                <a:latin typeface="Aptos"/>
              </a:rPr>
              <a:t>A clear handoff between citizen, API, database and administrator keeps the report lifecycle visible.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20040"/>
            <a:ext cx="502920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900" b="1" i="0">
                <a:solidFill>
                  <a:srgbClr val="9DB1CA"/>
                </a:solidFill>
                <a:latin typeface="Aptos"/>
              </a:rPr>
              <a:t>06 / 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847088"/>
            <a:ext cx="1572768" cy="1005840"/>
          </a:xfrm>
          <a:prstGeom prst="roundRect">
            <a:avLst>
              <a:gd name="adj" fmla="val 12000"/>
            </a:avLst>
          </a:prstGeom>
          <a:solidFill>
            <a:srgbClr val="111F38"/>
          </a:solidFill>
          <a:ln>
            <a:solidFill>
              <a:srgbClr val="2E46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68096" y="1984248"/>
            <a:ext cx="310896" cy="310896"/>
          </a:xfrm>
          <a:prstGeom prst="ellipse">
            <a:avLst/>
          </a:prstGeom>
          <a:solidFill>
            <a:srgbClr val="27DAE8"/>
          </a:solidFill>
          <a:ln>
            <a:solidFill>
              <a:srgbClr val="27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8096" y="1993392"/>
            <a:ext cx="310896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900" b="1" i="0">
                <a:solidFill>
                  <a:srgbClr val="081123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" y="1938528"/>
            <a:ext cx="987552" cy="6858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1" i="0">
                <a:solidFill>
                  <a:srgbClr val="F2F7FF"/>
                </a:solidFill>
                <a:latin typeface="Aptos"/>
              </a:rPr>
              <a:t>Citizen
signs in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231136" y="2350008"/>
            <a:ext cx="274320" cy="0"/>
          </a:xfrm>
          <a:prstGeom prst="line">
            <a:avLst/>
          </a:prstGeom>
          <a:ln w="22860">
            <a:solidFill>
              <a:srgbClr val="2E46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560320" y="1847088"/>
            <a:ext cx="1572768" cy="1005840"/>
          </a:xfrm>
          <a:prstGeom prst="roundRect">
            <a:avLst>
              <a:gd name="adj" fmla="val 12000"/>
            </a:avLst>
          </a:prstGeom>
          <a:solidFill>
            <a:srgbClr val="111F38"/>
          </a:solidFill>
          <a:ln>
            <a:solidFill>
              <a:srgbClr val="2E46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2670048" y="1984248"/>
            <a:ext cx="310896" cy="310896"/>
          </a:xfrm>
          <a:prstGeom prst="ellipse">
            <a:avLst/>
          </a:prstGeom>
          <a:solidFill>
            <a:srgbClr val="27DAE8"/>
          </a:solidFill>
          <a:ln>
            <a:solidFill>
              <a:srgbClr val="27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670048" y="1993392"/>
            <a:ext cx="310896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900" b="1" i="0">
                <a:solidFill>
                  <a:srgbClr val="081123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54096" y="1938528"/>
            <a:ext cx="987552" cy="6858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1" i="0">
                <a:solidFill>
                  <a:srgbClr val="F2F7FF"/>
                </a:solidFill>
                <a:latin typeface="Aptos"/>
              </a:rPr>
              <a:t>Adds issue
+ photo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133087" y="2350008"/>
            <a:ext cx="274321" cy="0"/>
          </a:xfrm>
          <a:prstGeom prst="line">
            <a:avLst/>
          </a:prstGeom>
          <a:ln w="22860">
            <a:solidFill>
              <a:srgbClr val="2E46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462272" y="1847088"/>
            <a:ext cx="1572768" cy="1005840"/>
          </a:xfrm>
          <a:prstGeom prst="roundRect">
            <a:avLst>
              <a:gd name="adj" fmla="val 12000"/>
            </a:avLst>
          </a:prstGeom>
          <a:solidFill>
            <a:srgbClr val="111F38"/>
          </a:solidFill>
          <a:ln>
            <a:solidFill>
              <a:srgbClr val="2E46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572000" y="1984248"/>
            <a:ext cx="310896" cy="310896"/>
          </a:xfrm>
          <a:prstGeom prst="ellipse">
            <a:avLst/>
          </a:prstGeom>
          <a:solidFill>
            <a:srgbClr val="53DC9D"/>
          </a:solidFill>
          <a:ln>
            <a:solidFill>
              <a:srgbClr val="53DC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0" y="1993392"/>
            <a:ext cx="310896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900" b="1" i="0">
                <a:solidFill>
                  <a:srgbClr val="081123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56048" y="1938528"/>
            <a:ext cx="987552" cy="6858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1" i="0">
                <a:solidFill>
                  <a:srgbClr val="F2F7FF"/>
                </a:solidFill>
                <a:latin typeface="Aptos"/>
              </a:rPr>
              <a:t>API validates
request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35040" y="2350008"/>
            <a:ext cx="274320" cy="0"/>
          </a:xfrm>
          <a:prstGeom prst="line">
            <a:avLst/>
          </a:prstGeom>
          <a:ln w="22860">
            <a:solidFill>
              <a:srgbClr val="2E46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364224" y="1847088"/>
            <a:ext cx="1572768" cy="1005840"/>
          </a:xfrm>
          <a:prstGeom prst="roundRect">
            <a:avLst>
              <a:gd name="adj" fmla="val 12000"/>
            </a:avLst>
          </a:prstGeom>
          <a:solidFill>
            <a:srgbClr val="111F38"/>
          </a:solidFill>
          <a:ln>
            <a:solidFill>
              <a:srgbClr val="2E46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473952" y="1984248"/>
            <a:ext cx="310896" cy="310896"/>
          </a:xfrm>
          <a:prstGeom prst="ellipse">
            <a:avLst/>
          </a:prstGeom>
          <a:solidFill>
            <a:srgbClr val="53DC9D"/>
          </a:solidFill>
          <a:ln>
            <a:solidFill>
              <a:srgbClr val="53DC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73952" y="1993392"/>
            <a:ext cx="310896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900" b="1" i="0">
                <a:solidFill>
                  <a:srgbClr val="081123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1938528"/>
            <a:ext cx="987552" cy="6858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1" i="0">
                <a:solidFill>
                  <a:srgbClr val="F2F7FF"/>
                </a:solidFill>
                <a:latin typeface="Aptos"/>
              </a:rPr>
              <a:t>MongoDB
stores record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936992" y="2350008"/>
            <a:ext cx="274319" cy="0"/>
          </a:xfrm>
          <a:prstGeom prst="line">
            <a:avLst/>
          </a:prstGeom>
          <a:ln w="22860">
            <a:solidFill>
              <a:srgbClr val="2E46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266176" y="1847088"/>
            <a:ext cx="1572768" cy="1005840"/>
          </a:xfrm>
          <a:prstGeom prst="roundRect">
            <a:avLst>
              <a:gd name="adj" fmla="val 12000"/>
            </a:avLst>
          </a:prstGeom>
          <a:solidFill>
            <a:srgbClr val="111F38"/>
          </a:solidFill>
          <a:ln>
            <a:solidFill>
              <a:srgbClr val="2E46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8375904" y="1984248"/>
            <a:ext cx="310896" cy="310896"/>
          </a:xfrm>
          <a:prstGeom prst="ellipse">
            <a:avLst/>
          </a:prstGeom>
          <a:solidFill>
            <a:srgbClr val="FFB85C"/>
          </a:solidFill>
          <a:ln>
            <a:solidFill>
              <a:srgbClr val="FFB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75904" y="1993392"/>
            <a:ext cx="310896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900" b="1" i="0">
                <a:solidFill>
                  <a:srgbClr val="081123"/>
                </a:solidFill>
                <a:latin typeface="Aptos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59952" y="1938528"/>
            <a:ext cx="987552" cy="6858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1" i="0">
                <a:solidFill>
                  <a:srgbClr val="F2F7FF"/>
                </a:solidFill>
                <a:latin typeface="Aptos"/>
              </a:rPr>
              <a:t>Admin reviews
and updates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838944" y="2350008"/>
            <a:ext cx="274320" cy="0"/>
          </a:xfrm>
          <a:prstGeom prst="line">
            <a:avLst/>
          </a:prstGeom>
          <a:ln w="22860">
            <a:solidFill>
              <a:srgbClr val="2E46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10168128" y="1847088"/>
            <a:ext cx="1572768" cy="1005840"/>
          </a:xfrm>
          <a:prstGeom prst="roundRect">
            <a:avLst>
              <a:gd name="adj" fmla="val 12000"/>
            </a:avLst>
          </a:prstGeom>
          <a:solidFill>
            <a:srgbClr val="111F38"/>
          </a:solidFill>
          <a:ln>
            <a:solidFill>
              <a:srgbClr val="2E46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10277856" y="1984248"/>
            <a:ext cx="310896" cy="310896"/>
          </a:xfrm>
          <a:prstGeom prst="ellipse">
            <a:avLst/>
          </a:prstGeom>
          <a:solidFill>
            <a:srgbClr val="27DAE8"/>
          </a:solidFill>
          <a:ln>
            <a:solidFill>
              <a:srgbClr val="27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277856" y="1993392"/>
            <a:ext cx="310896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900" b="1" i="0">
                <a:solidFill>
                  <a:srgbClr val="081123"/>
                </a:solidFill>
                <a:latin typeface="Aptos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61904" y="1938528"/>
            <a:ext cx="987552" cy="6858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1" i="0">
                <a:solidFill>
                  <a:srgbClr val="F2F7FF"/>
                </a:solidFill>
                <a:latin typeface="Aptos"/>
              </a:rPr>
              <a:t>Citizen tracks
status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3218688"/>
            <a:ext cx="5394960" cy="2468880"/>
          </a:xfrm>
          <a:prstGeom prst="roundRect">
            <a:avLst>
              <a:gd name="adj" fmla="val 12000"/>
            </a:avLst>
          </a:prstGeom>
          <a:solidFill>
            <a:srgbClr val="111F38"/>
          </a:solidFill>
          <a:ln>
            <a:solidFill>
              <a:srgbClr val="111F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14400" y="3438144"/>
            <a:ext cx="4480560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400" b="1" i="0">
                <a:solidFill>
                  <a:srgbClr val="F2F7FF"/>
                </a:solidFill>
                <a:latin typeface="Aptos"/>
              </a:rPr>
              <a:t>Security baseline</a:t>
            </a:r>
          </a:p>
        </p:txBody>
      </p:sp>
      <p:sp>
        <p:nvSpPr>
          <p:cNvPr id="37" name="Oval 36"/>
          <p:cNvSpPr/>
          <p:nvPr/>
        </p:nvSpPr>
        <p:spPr>
          <a:xfrm>
            <a:off x="932688" y="3895344"/>
            <a:ext cx="128016" cy="128016"/>
          </a:xfrm>
          <a:prstGeom prst="ellipse">
            <a:avLst/>
          </a:prstGeom>
          <a:solidFill>
            <a:srgbClr val="53DC9D"/>
          </a:solidFill>
          <a:ln>
            <a:solidFill>
              <a:srgbClr val="53DC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170432" y="3858768"/>
            <a:ext cx="1508760" cy="24688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1" i="0">
                <a:solidFill>
                  <a:srgbClr val="53DC9D"/>
                </a:solidFill>
                <a:latin typeface="Aptos"/>
              </a:rPr>
              <a:t>Password hashing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97480" y="3858768"/>
            <a:ext cx="2971800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800" b="0" i="0">
                <a:solidFill>
                  <a:srgbClr val="9DB1CA"/>
                </a:solidFill>
                <a:latin typeface="Aptos"/>
              </a:rPr>
              <a:t>Never store plaintext passwords</a:t>
            </a:r>
          </a:p>
        </p:txBody>
      </p:sp>
      <p:sp>
        <p:nvSpPr>
          <p:cNvPr id="40" name="Oval 39"/>
          <p:cNvSpPr/>
          <p:nvPr/>
        </p:nvSpPr>
        <p:spPr>
          <a:xfrm>
            <a:off x="932688" y="4288536"/>
            <a:ext cx="128016" cy="128016"/>
          </a:xfrm>
          <a:prstGeom prst="ellipse">
            <a:avLst/>
          </a:prstGeom>
          <a:solidFill>
            <a:srgbClr val="53DC9D"/>
          </a:solidFill>
          <a:ln>
            <a:solidFill>
              <a:srgbClr val="53DC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170432" y="4251959"/>
            <a:ext cx="1508760" cy="24688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1" i="0">
                <a:solidFill>
                  <a:srgbClr val="53DC9D"/>
                </a:solidFill>
                <a:latin typeface="Aptos"/>
              </a:rPr>
              <a:t>Auth + roles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697480" y="4251959"/>
            <a:ext cx="2971800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800" b="0" i="0">
                <a:solidFill>
                  <a:srgbClr val="9DB1CA"/>
                </a:solidFill>
                <a:latin typeface="Aptos"/>
              </a:rPr>
              <a:t>Citizen and admin permissions</a:t>
            </a:r>
          </a:p>
        </p:txBody>
      </p:sp>
      <p:sp>
        <p:nvSpPr>
          <p:cNvPr id="43" name="Oval 42"/>
          <p:cNvSpPr/>
          <p:nvPr/>
        </p:nvSpPr>
        <p:spPr>
          <a:xfrm>
            <a:off x="932688" y="4681728"/>
            <a:ext cx="128016" cy="128016"/>
          </a:xfrm>
          <a:prstGeom prst="ellipse">
            <a:avLst/>
          </a:prstGeom>
          <a:solidFill>
            <a:srgbClr val="53DC9D"/>
          </a:solidFill>
          <a:ln>
            <a:solidFill>
              <a:srgbClr val="53DC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170432" y="4645152"/>
            <a:ext cx="1508760" cy="24688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1" i="0">
                <a:solidFill>
                  <a:srgbClr val="53DC9D"/>
                </a:solidFill>
                <a:latin typeface="Aptos"/>
              </a:rPr>
              <a:t>Validation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697480" y="4645152"/>
            <a:ext cx="2971800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800" b="0" i="0">
                <a:solidFill>
                  <a:srgbClr val="9DB1CA"/>
                </a:solidFill>
                <a:latin typeface="Aptos"/>
              </a:rPr>
              <a:t>Reject malformed inputs</a:t>
            </a:r>
          </a:p>
        </p:txBody>
      </p:sp>
      <p:sp>
        <p:nvSpPr>
          <p:cNvPr id="46" name="Oval 45"/>
          <p:cNvSpPr/>
          <p:nvPr/>
        </p:nvSpPr>
        <p:spPr>
          <a:xfrm>
            <a:off x="932688" y="5074920"/>
            <a:ext cx="128016" cy="128016"/>
          </a:xfrm>
          <a:prstGeom prst="ellipse">
            <a:avLst/>
          </a:prstGeom>
          <a:solidFill>
            <a:srgbClr val="53DC9D"/>
          </a:solidFill>
          <a:ln>
            <a:solidFill>
              <a:srgbClr val="53DC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170432" y="5038344"/>
            <a:ext cx="1508760" cy="24688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1" i="0">
                <a:solidFill>
                  <a:srgbClr val="53DC9D"/>
                </a:solidFill>
                <a:latin typeface="Aptos"/>
              </a:rPr>
              <a:t>Upload safety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697480" y="5038344"/>
            <a:ext cx="2971800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800" b="0" i="0">
                <a:solidFill>
                  <a:srgbClr val="9DB1CA"/>
                </a:solidFill>
                <a:latin typeface="Aptos"/>
              </a:rPr>
              <a:t>Type / size checks; safe storage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309360" y="3218688"/>
            <a:ext cx="5212080" cy="2468880"/>
          </a:xfrm>
          <a:prstGeom prst="roundRect">
            <a:avLst>
              <a:gd name="adj" fmla="val 12000"/>
            </a:avLst>
          </a:prstGeom>
          <a:solidFill>
            <a:srgbClr val="111F38"/>
          </a:solidFill>
          <a:ln>
            <a:solidFill>
              <a:srgbClr val="111F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583680" y="3438144"/>
            <a:ext cx="4389120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400" b="1" i="0">
                <a:solidFill>
                  <a:srgbClr val="F2F7FF"/>
                </a:solidFill>
                <a:latin typeface="Aptos"/>
              </a:rPr>
              <a:t>Next-level smart management</a:t>
            </a:r>
          </a:p>
        </p:txBody>
      </p:sp>
      <p:sp>
        <p:nvSpPr>
          <p:cNvPr id="51" name="Oval 50"/>
          <p:cNvSpPr/>
          <p:nvPr/>
        </p:nvSpPr>
        <p:spPr>
          <a:xfrm>
            <a:off x="6601968" y="3895344"/>
            <a:ext cx="128016" cy="128016"/>
          </a:xfrm>
          <a:prstGeom prst="ellipse">
            <a:avLst/>
          </a:prstGeom>
          <a:solidFill>
            <a:srgbClr val="27DAE8"/>
          </a:solidFill>
          <a:ln>
            <a:solidFill>
              <a:srgbClr val="27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839712" y="3858768"/>
            <a:ext cx="2560320" cy="24688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1" i="0">
                <a:solidFill>
                  <a:srgbClr val="F2F7FF"/>
                </a:solidFill>
                <a:latin typeface="Aptos"/>
              </a:rPr>
              <a:t>GPS-assisted reporting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738360" y="3858768"/>
            <a:ext cx="1097280" cy="256032"/>
          </a:xfrm>
          <a:prstGeom prst="roundRect">
            <a:avLst>
              <a:gd name="adj" fmla="val 12000"/>
            </a:avLst>
          </a:prstGeom>
          <a:solidFill>
            <a:srgbClr val="123644"/>
          </a:solidFill>
          <a:ln>
            <a:solidFill>
              <a:srgbClr val="123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774936" y="3867911"/>
            <a:ext cx="1024127" cy="2194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600" b="1" i="0">
                <a:solidFill>
                  <a:srgbClr val="27DAE8"/>
                </a:solidFill>
                <a:latin typeface="Aptos"/>
              </a:rPr>
              <a:t>PLANNED</a:t>
            </a:r>
          </a:p>
        </p:txBody>
      </p:sp>
      <p:sp>
        <p:nvSpPr>
          <p:cNvPr id="55" name="Oval 54"/>
          <p:cNvSpPr/>
          <p:nvPr/>
        </p:nvSpPr>
        <p:spPr>
          <a:xfrm>
            <a:off x="6601968" y="4288536"/>
            <a:ext cx="128016" cy="128016"/>
          </a:xfrm>
          <a:prstGeom prst="ellipse">
            <a:avLst/>
          </a:prstGeom>
          <a:solidFill>
            <a:srgbClr val="27DAE8"/>
          </a:solidFill>
          <a:ln>
            <a:solidFill>
              <a:srgbClr val="27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839712" y="4251959"/>
            <a:ext cx="2560320" cy="24688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1" i="0">
                <a:solidFill>
                  <a:srgbClr val="F2F7FF"/>
                </a:solidFill>
                <a:latin typeface="Aptos"/>
              </a:rPr>
              <a:t>Duplicate detection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738360" y="4251959"/>
            <a:ext cx="1097280" cy="256032"/>
          </a:xfrm>
          <a:prstGeom prst="roundRect">
            <a:avLst>
              <a:gd name="adj" fmla="val 12000"/>
            </a:avLst>
          </a:prstGeom>
          <a:solidFill>
            <a:srgbClr val="123644"/>
          </a:solidFill>
          <a:ln>
            <a:solidFill>
              <a:srgbClr val="123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9774936" y="4261103"/>
            <a:ext cx="1024127" cy="2194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600" b="1" i="0">
                <a:solidFill>
                  <a:srgbClr val="27DAE8"/>
                </a:solidFill>
                <a:latin typeface="Aptos"/>
              </a:rPr>
              <a:t>PLANNED</a:t>
            </a:r>
          </a:p>
        </p:txBody>
      </p:sp>
      <p:sp>
        <p:nvSpPr>
          <p:cNvPr id="59" name="Oval 58"/>
          <p:cNvSpPr/>
          <p:nvPr/>
        </p:nvSpPr>
        <p:spPr>
          <a:xfrm>
            <a:off x="6601968" y="4681728"/>
            <a:ext cx="128016" cy="128016"/>
          </a:xfrm>
          <a:prstGeom prst="ellipse">
            <a:avLst/>
          </a:prstGeom>
          <a:solidFill>
            <a:srgbClr val="27DAE8"/>
          </a:solidFill>
          <a:ln>
            <a:solidFill>
              <a:srgbClr val="27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839712" y="4645152"/>
            <a:ext cx="2560320" cy="24688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1" i="0">
                <a:solidFill>
                  <a:srgbClr val="F2F7FF"/>
                </a:solidFill>
                <a:latin typeface="Aptos"/>
              </a:rPr>
              <a:t>Priority scoring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738360" y="4645152"/>
            <a:ext cx="1097280" cy="256032"/>
          </a:xfrm>
          <a:prstGeom prst="roundRect">
            <a:avLst>
              <a:gd name="adj" fmla="val 12000"/>
            </a:avLst>
          </a:prstGeom>
          <a:solidFill>
            <a:srgbClr val="123644"/>
          </a:solidFill>
          <a:ln>
            <a:solidFill>
              <a:srgbClr val="123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774936" y="4654296"/>
            <a:ext cx="1024127" cy="2194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600" b="1" i="0">
                <a:solidFill>
                  <a:srgbClr val="27DAE8"/>
                </a:solidFill>
                <a:latin typeface="Aptos"/>
              </a:rPr>
              <a:t>PLANNED</a:t>
            </a:r>
          </a:p>
        </p:txBody>
      </p:sp>
      <p:sp>
        <p:nvSpPr>
          <p:cNvPr id="63" name="Oval 62"/>
          <p:cNvSpPr/>
          <p:nvPr/>
        </p:nvSpPr>
        <p:spPr>
          <a:xfrm>
            <a:off x="6601968" y="5074920"/>
            <a:ext cx="128016" cy="128016"/>
          </a:xfrm>
          <a:prstGeom prst="ellipse">
            <a:avLst/>
          </a:prstGeom>
          <a:solidFill>
            <a:srgbClr val="27DAE8"/>
          </a:solidFill>
          <a:ln>
            <a:solidFill>
              <a:srgbClr val="27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839712" y="5038344"/>
            <a:ext cx="2560320" cy="24688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1" i="0">
                <a:solidFill>
                  <a:srgbClr val="F2F7FF"/>
                </a:solidFill>
                <a:latin typeface="Aptos"/>
              </a:rPr>
              <a:t>Email notifications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738360" y="5038344"/>
            <a:ext cx="1097280" cy="256032"/>
          </a:xfrm>
          <a:prstGeom prst="roundRect">
            <a:avLst>
              <a:gd name="adj" fmla="val 12000"/>
            </a:avLst>
          </a:prstGeom>
          <a:solidFill>
            <a:srgbClr val="123644"/>
          </a:solidFill>
          <a:ln>
            <a:solidFill>
              <a:srgbClr val="123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9774936" y="5047488"/>
            <a:ext cx="1024127" cy="2194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600" b="1" i="0">
                <a:solidFill>
                  <a:srgbClr val="27DAE8"/>
                </a:solidFill>
                <a:latin typeface="Aptos"/>
              </a:rPr>
              <a:t>PLANNED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5800" y="5961888"/>
            <a:ext cx="1078992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800" b="0" i="1">
                <a:solidFill>
                  <a:srgbClr val="FFB85C"/>
                </a:solidFill>
                <a:latin typeface="Aptos"/>
              </a:rPr>
              <a:t>Security controls and future enhancements are design considerations until verified in the running application.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566928" y="6510528"/>
            <a:ext cx="11064240" cy="0"/>
          </a:xfrm>
          <a:prstGeom prst="line">
            <a:avLst/>
          </a:prstGeom>
          <a:ln w="8890">
            <a:solidFill>
              <a:srgbClr val="2E46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594360" y="6537960"/>
            <a:ext cx="5029200" cy="16459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700" b="1" i="0">
                <a:solidFill>
                  <a:srgbClr val="9DB1CA"/>
                </a:solidFill>
                <a:latin typeface="Aptos"/>
              </a:rPr>
              <a:t>CITY ISSUE REPORTING DASHBOARD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607040" y="6537960"/>
            <a:ext cx="1005840" cy="16459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700" b="1" i="0">
                <a:solidFill>
                  <a:srgbClr val="9DB1CA"/>
                </a:solidFill>
                <a:latin typeface="Aptos"/>
              </a:rPr>
              <a:t>MERN • CIVIC TECH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4572000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1" i="0">
                <a:solidFill>
                  <a:srgbClr val="27DAE8"/>
                </a:solidFill>
                <a:latin typeface="Aptos"/>
              </a:rPr>
              <a:t>06 / IMPACT +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557784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2700" b="1" i="0">
                <a:solidFill>
                  <a:srgbClr val="F2F7FF"/>
                </a:solidFill>
                <a:latin typeface="Aptos"/>
              </a:rPr>
              <a:t>Make civic action
more visible.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47088"/>
            <a:ext cx="493776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700" b="1" i="0">
                <a:solidFill>
                  <a:srgbClr val="53DC9D"/>
                </a:solidFill>
                <a:latin typeface="Aptos"/>
              </a:rPr>
              <a:t>Smarter Reporting.
Faster Action. Better Cities.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743200"/>
            <a:ext cx="347472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1" i="0">
                <a:solidFill>
                  <a:srgbClr val="27DAE8"/>
                </a:solidFill>
                <a:latin typeface="Apto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24912"/>
            <a:ext cx="1874519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F2F7FF"/>
                </a:solidFill>
                <a:latin typeface="Aptos"/>
              </a:rPr>
              <a:t>Simpler reporting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44368" y="2724912"/>
            <a:ext cx="251460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800" b="0" i="0">
                <a:solidFill>
                  <a:srgbClr val="9DB1CA"/>
                </a:solidFill>
                <a:latin typeface="Aptos"/>
              </a:rPr>
              <a:t>A structured entry point for citizens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3374136"/>
            <a:ext cx="347472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1" i="0">
                <a:solidFill>
                  <a:srgbClr val="27DAE8"/>
                </a:solidFill>
                <a:latin typeface="Aptos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355848"/>
            <a:ext cx="1874519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F2F7FF"/>
                </a:solidFill>
                <a:latin typeface="Aptos"/>
              </a:rPr>
              <a:t>Visible progress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44368" y="3355848"/>
            <a:ext cx="251460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800" b="0" i="0">
                <a:solidFill>
                  <a:srgbClr val="9DB1CA"/>
                </a:solidFill>
                <a:latin typeface="Aptos"/>
              </a:rPr>
              <a:t>Status updates reduce uncertainty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4005072"/>
            <a:ext cx="347472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1" i="0">
                <a:solidFill>
                  <a:srgbClr val="27DAE8"/>
                </a:solidFill>
                <a:latin typeface="Aptos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986784"/>
            <a:ext cx="1874519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F2F7FF"/>
                </a:solidFill>
                <a:latin typeface="Aptos"/>
              </a:rPr>
              <a:t>Organized operations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44368" y="3986784"/>
            <a:ext cx="251460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800" b="0" i="0">
                <a:solidFill>
                  <a:srgbClr val="9DB1CA"/>
                </a:solidFill>
                <a:latin typeface="Aptos"/>
              </a:rPr>
              <a:t>One queue for review and follow-up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4636008"/>
            <a:ext cx="347472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1" i="0">
                <a:solidFill>
                  <a:srgbClr val="27DAE8"/>
                </a:solidFill>
                <a:latin typeface="Aptos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617720"/>
            <a:ext cx="1874519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F2F7FF"/>
                </a:solidFill>
                <a:latin typeface="Aptos"/>
              </a:rPr>
              <a:t>Accountable decisions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44368" y="4617720"/>
            <a:ext cx="251460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800" b="0" i="0">
                <a:solidFill>
                  <a:srgbClr val="9DB1CA"/>
                </a:solidFill>
                <a:latin typeface="Aptos"/>
              </a:rPr>
              <a:t>Clear records support prioritization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89320" y="502920"/>
            <a:ext cx="5532120" cy="3886200"/>
          </a:xfrm>
          <a:prstGeom prst="roundRect">
            <a:avLst>
              <a:gd name="adj" fmla="val 12000"/>
            </a:avLst>
          </a:prstGeom>
          <a:solidFill>
            <a:srgbClr val="111F38"/>
          </a:solidFill>
          <a:ln>
            <a:solidFill>
              <a:srgbClr val="2E46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309360" y="749808"/>
            <a:ext cx="1417320" cy="256032"/>
          </a:xfrm>
          <a:prstGeom prst="roundRect">
            <a:avLst>
              <a:gd name="adj" fmla="val 12000"/>
            </a:avLst>
          </a:prstGeom>
          <a:solidFill>
            <a:srgbClr val="123644"/>
          </a:solidFill>
          <a:ln>
            <a:solidFill>
              <a:srgbClr val="123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45936" y="758952"/>
            <a:ext cx="1344168" cy="2194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800" b="1" i="0">
                <a:solidFill>
                  <a:srgbClr val="27DAE8"/>
                </a:solidFill>
                <a:latin typeface="Aptos"/>
              </a:rPr>
              <a:t>DEMO FLOW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1170432"/>
            <a:ext cx="4480560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400" b="1" i="0">
                <a:solidFill>
                  <a:srgbClr val="F2F7FF"/>
                </a:solidFill>
                <a:latin typeface="Aptos"/>
              </a:rPr>
              <a:t>Walk judges through one issue</a:t>
            </a:r>
          </a:p>
        </p:txBody>
      </p:sp>
      <p:sp>
        <p:nvSpPr>
          <p:cNvPr id="21" name="Oval 20"/>
          <p:cNvSpPr/>
          <p:nvPr/>
        </p:nvSpPr>
        <p:spPr>
          <a:xfrm>
            <a:off x="6355080" y="1700784"/>
            <a:ext cx="283464" cy="283464"/>
          </a:xfrm>
          <a:prstGeom prst="ellipse">
            <a:avLst/>
          </a:prstGeom>
          <a:solidFill>
            <a:srgbClr val="27DAE8"/>
          </a:solidFill>
          <a:ln>
            <a:solidFill>
              <a:srgbClr val="27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55080" y="1709928"/>
            <a:ext cx="283464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700" b="1" i="0">
                <a:solidFill>
                  <a:srgbClr val="081123"/>
                </a:solidFill>
                <a:latin typeface="Aptos"/>
              </a:rPr>
              <a:t>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84848" y="1691640"/>
            <a:ext cx="4206240" cy="26517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F2F7FF"/>
                </a:solidFill>
                <a:latin typeface="Aptos"/>
              </a:rPr>
              <a:t>Submit a pothole report</a:t>
            </a:r>
          </a:p>
        </p:txBody>
      </p:sp>
      <p:sp>
        <p:nvSpPr>
          <p:cNvPr id="24" name="Oval 23"/>
          <p:cNvSpPr/>
          <p:nvPr/>
        </p:nvSpPr>
        <p:spPr>
          <a:xfrm>
            <a:off x="6355080" y="2203704"/>
            <a:ext cx="283464" cy="283464"/>
          </a:xfrm>
          <a:prstGeom prst="ellipse">
            <a:avLst/>
          </a:prstGeom>
          <a:solidFill>
            <a:srgbClr val="27DAE8"/>
          </a:solidFill>
          <a:ln>
            <a:solidFill>
              <a:srgbClr val="27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55080" y="2212848"/>
            <a:ext cx="283464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700" b="1" i="0">
                <a:solidFill>
                  <a:srgbClr val="081123"/>
                </a:solidFill>
                <a:latin typeface="Aptos"/>
              </a:rPr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84848" y="2194560"/>
            <a:ext cx="4206240" cy="26517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F2F7FF"/>
                </a:solidFill>
                <a:latin typeface="Aptos"/>
              </a:rPr>
              <a:t>Show it in the issue list</a:t>
            </a:r>
          </a:p>
        </p:txBody>
      </p:sp>
      <p:sp>
        <p:nvSpPr>
          <p:cNvPr id="27" name="Oval 26"/>
          <p:cNvSpPr/>
          <p:nvPr/>
        </p:nvSpPr>
        <p:spPr>
          <a:xfrm>
            <a:off x="6355080" y="2706624"/>
            <a:ext cx="283464" cy="283464"/>
          </a:xfrm>
          <a:prstGeom prst="ellipse">
            <a:avLst/>
          </a:prstGeom>
          <a:solidFill>
            <a:srgbClr val="53DC9D"/>
          </a:solidFill>
          <a:ln>
            <a:solidFill>
              <a:srgbClr val="53DC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55080" y="2715768"/>
            <a:ext cx="283464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700" b="1" i="0">
                <a:solidFill>
                  <a:srgbClr val="081123"/>
                </a:solidFill>
                <a:latin typeface="Aptos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84848" y="2697480"/>
            <a:ext cx="4206240" cy="26517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F2F7FF"/>
                </a:solidFill>
                <a:latin typeface="Aptos"/>
              </a:rPr>
              <a:t>Admin updates to In Progress</a:t>
            </a:r>
          </a:p>
        </p:txBody>
      </p:sp>
      <p:sp>
        <p:nvSpPr>
          <p:cNvPr id="30" name="Oval 29"/>
          <p:cNvSpPr/>
          <p:nvPr/>
        </p:nvSpPr>
        <p:spPr>
          <a:xfrm>
            <a:off x="6355080" y="3209544"/>
            <a:ext cx="283464" cy="283464"/>
          </a:xfrm>
          <a:prstGeom prst="ellipse">
            <a:avLst/>
          </a:prstGeom>
          <a:solidFill>
            <a:srgbClr val="53DC9D"/>
          </a:solidFill>
          <a:ln>
            <a:solidFill>
              <a:srgbClr val="53DC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55080" y="3218688"/>
            <a:ext cx="283464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700" b="1" i="0">
                <a:solidFill>
                  <a:srgbClr val="081123"/>
                </a:solidFill>
                <a:latin typeface="Aptos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84848" y="3200400"/>
            <a:ext cx="4206240" cy="26517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000" b="1" i="0">
                <a:solidFill>
                  <a:srgbClr val="F2F7FF"/>
                </a:solidFill>
                <a:latin typeface="Aptos"/>
              </a:rPr>
              <a:t>Citizen sees latest status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27648" y="3840480"/>
            <a:ext cx="4663440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700" b="0" i="1">
                <a:solidFill>
                  <a:srgbClr val="FFB85C"/>
                </a:solidFill>
                <a:latin typeface="Aptos"/>
              </a:rPr>
              <a:t>No live app screenshots supplied — use prototype UI until verified.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89320" y="4617720"/>
            <a:ext cx="5532120" cy="1325880"/>
          </a:xfrm>
          <a:prstGeom prst="roundRect">
            <a:avLst>
              <a:gd name="adj" fmla="val 12000"/>
            </a:avLst>
          </a:prstGeom>
          <a:solidFill>
            <a:srgbClr val="0D1C30"/>
          </a:solidFill>
          <a:ln>
            <a:solidFill>
              <a:srgbClr val="0D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291072" y="4773168"/>
            <a:ext cx="1920240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1" i="0">
                <a:solidFill>
                  <a:srgbClr val="27DAE8"/>
                </a:solidFill>
                <a:latin typeface="Aptos"/>
              </a:rPr>
              <a:t>FUTURE SCOPE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91072" y="5102352"/>
            <a:ext cx="4800600" cy="54864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900" b="0" i="0">
                <a:solidFill>
                  <a:srgbClr val="F2F7FF"/>
                </a:solidFill>
                <a:latin typeface="Aptos"/>
              </a:rPr>
              <a:t>Interactive map • Auto-priority • Duplicate detection
Mobile PWA • Municipal analytics &amp; resolution-time reports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5800" y="5623560"/>
            <a:ext cx="4800600" cy="475488"/>
          </a:xfrm>
          <a:prstGeom prst="roundRect">
            <a:avLst>
              <a:gd name="adj" fmla="val 12000"/>
            </a:avLst>
          </a:prstGeom>
          <a:solidFill>
            <a:srgbClr val="123139"/>
          </a:solidFill>
          <a:ln>
            <a:solidFill>
              <a:srgbClr val="12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68680" y="5687568"/>
            <a:ext cx="4434840" cy="31089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300" b="1" i="0">
                <a:solidFill>
                  <a:srgbClr val="53DC9D"/>
                </a:solidFill>
                <a:latin typeface="Aptos"/>
              </a:rPr>
              <a:t>THANK YOU  •  QUESTIONS?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66928" y="6510528"/>
            <a:ext cx="11064240" cy="0"/>
          </a:xfrm>
          <a:prstGeom prst="line">
            <a:avLst/>
          </a:prstGeom>
          <a:ln w="8890">
            <a:solidFill>
              <a:srgbClr val="2E46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594360" y="6537960"/>
            <a:ext cx="5029200" cy="16459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700" b="1" i="0">
                <a:solidFill>
                  <a:srgbClr val="9DB1CA"/>
                </a:solidFill>
                <a:latin typeface="Aptos"/>
              </a:rPr>
              <a:t>CITY ISSUE REPORTING DASHBOARD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07040" y="6537960"/>
            <a:ext cx="1005840" cy="16459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/>
            <a:r>
              <a:rPr sz="700" b="1" i="0">
                <a:solidFill>
                  <a:srgbClr val="9DB1CA"/>
                </a:solidFill>
                <a:latin typeface="Aptos"/>
              </a:rPr>
              <a:t>MERN • CIVIC TECH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888</Words>
  <Application>Microsoft Office PowerPoint</Application>
  <PresentationFormat>Widescreen</PresentationFormat>
  <Paragraphs>253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Varshith Rama</cp:lastModifiedBy>
  <cp:revision>1</cp:revision>
  <dcterms:created xsi:type="dcterms:W3CDTF">2013-01-27T09:14:16Z</dcterms:created>
  <dcterms:modified xsi:type="dcterms:W3CDTF">2026-10-10T05:23:31Z</dcterms:modified>
  <cp:category/>
</cp:coreProperties>
</file>